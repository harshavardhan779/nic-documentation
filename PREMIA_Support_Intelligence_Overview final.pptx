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When a production issue comes in on PREMIA, it arrives as a Jira ticket. From there, the support engineer has to investigate almost entirely by hand. First they understand the issue. Then they work out which PREMIA screen is involved and find the Form behind it. Then they search through triggers and PL/SQL, trace the dependencies, check the database logic, and only after all of that can they determine the root cause.
The important point is that every one of those steps lives in a different place: the ticket, the Forms, the code, the database logic. And each step depends on manual effort. So investigations are slow, and they are hard to make consistent and repeatable.
That is the problem we are solving: bringing this whole investigation into one evidence-driven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are we building? A PREMIA-specific investigation assistant. To be clear, this is not a generic chatbot. It is built for PREMIA support.
The flow follows how an engineer already thinks. We start with the support ticket and understand the incident. We identify the relevant area of PREMIA, then trace the logic and dependencies. From that we build a root cause analysis, and then we validate it.
What the engineer gets at the end is a structured investigation. It shows where the issue is and which part of PREMIA is involved. It explains why it may be happening, along with the evidence behind that explanation. And it tells them what to check next, and whether the finding has been confirmed at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principle behind all of this is: evidence first.
A simple approach would be to hand the ticket to an LLM and ask for an answer. That gives you a guess that is hard to explain and hard to audit. Our approach is different. The system gathers evidence from the PREMIA code, the AI reasons over that evidence, and then the result is validated. That makes it explainable, auditable and repeatable.
We also grade every finding. It starts as a hypothesis. It becomes static evidence when it is backed by the source. It becomes runtime confirmed when it is checked against the running system. And it becomes SME validated when a subject matter expert signs it off. A finding is never silently upgraded from one level to the next, and the final authority is always the SME.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where are we today? The foundation is already in place.
The PREMIA codebase has been processed into a structured intelligence layer. That is 1,091 Forms, about 57,000 triggers, about 138,000 items and about 245,000 dependencies. Beyond that, we have mapped around 56,000 control-flow graphs, 7,688 program units and 8,101 indexed errors.
So this is no longer a concept. The PREMIA code is already structured and searchable. What we are doing now is connecting Jira ticket intelligence to this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what the platform can already do.
On the ingestion side, it takes in project dumps and keeps an artifact registry. It converts Oracle Forms FMB files to XML, incrementally, so we do not redo work. It then builds a structured index of Forms, dependencies and errors, with full-text search.
On the analysis side, it does deterministic control-flow analysis, so we can follow how the logic actually runs. It retrieves evidence for an RCA, along with metadata on how good that retrieval is. A sufficiency gate then checks that the evidence is enough before an RCA is attempted. And only a bounded, relevant amount of context goes to the LLM.
The LLM layer uses an OpenAI-compatible provider and validates every response strictly. We also have the groundwork for controlled runtime confirmation. All of this is backed by an extensive automated regression test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we choose this architecture? Six reasons.
First, trustworthy answers. Deterministic analysis is the source of truth. The LLM only proposes hypotheses from evidence, so it cannot invent facts about the source code.
Second, it is reproducible. Every investigation is tied to a fixed snapshot of the source, the tooling and the model version, so we can replay it later.
Third, runtime checks are safe. They use approved templates only, are read-only, need human approval, run in isolation, and are fully audited.
Fourth, customer isolation. Each customer gets their own deployment cell, which keeps their source code separate and protected.
Fifth, it is simple to run. It is a modular monolith using SQLite and PostgreSQL, with no heavy infrastructure at our current scale.
And sixth, delivery is measured and low risk. We build on the validated proof of concept, each phase needs human sign-off, and we track quality against SME-validated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we get from here to the full workspace.
Right now, we are strengthening the core: making sure artifact identity is stable and consistent, so the same source always produces the same result.
Next, we build the investigation model and prove it with a first real ticket, taken through to an RCA and an SME check. In parallel comes Jira ticket intelligence: tickets, comments, attachments and OCR.
Then we add the evidence ledger with citation checks, improve retrieval, run an experiment on whether a bounded agent actually helps, and bring in controlled runtime evidence.
Later, we add the Jira workspace with write-back, the full UI and explorers, PREMIA domain knowledge, and production hardening.
The Jira integration and the UI are still ahead of us, and we will only adopt the agent if the experiment shows a measurable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our goal is to turn PREMIA support from manual investigation into an evidence-driven, AI-assisted workflow.
An incident comes in from Jira, we identify the PREMIA area, trace the logic and dependencies, produce an evidence-backed RCA, and validate it. The foundation is already built, and we are now connecting it to real support tickets.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200" b="1" spc="300" kern="0" dirty="0">
                <a:solidFill>
                  <a:srgbClr val="0F766E"/>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85800"/>
            <a:ext cx="8046720" cy="91440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PREMIA incident investigation is manual, slow and scattered across sources</a:t>
            </a:r>
            <a:endParaRPr lang="en-US" sz="2800" dirty="0"/>
          </a:p>
        </p:txBody>
      </p:sp>
      <p:sp>
        <p:nvSpPr>
          <p:cNvPr id="4" name="Shape 2"/>
          <p:cNvSpPr/>
          <p:nvPr/>
        </p:nvSpPr>
        <p:spPr>
          <a:xfrm>
            <a:off x="548640" y="1874520"/>
            <a:ext cx="1737360" cy="685800"/>
          </a:xfrm>
          <a:prstGeom prst="roundRect">
            <a:avLst>
              <a:gd name="adj" fmla="val 10667"/>
            </a:avLst>
          </a:prstGeom>
          <a:solidFill>
            <a:srgbClr val="FDF1E3"/>
          </a:solidFill>
          <a:ln w="12700">
            <a:solidFill>
              <a:srgbClr val="FDF1E3"/>
            </a:solidFill>
            <a:prstDash val="solid"/>
          </a:ln>
        </p:spPr>
      </p:sp>
      <p:sp>
        <p:nvSpPr>
          <p:cNvPr id="5" name="Text 3"/>
          <p:cNvSpPr txBox="1"/>
          <p:nvPr/>
        </p:nvSpPr>
        <p:spPr>
          <a:xfrm>
            <a:off x="548640" y="1874520"/>
            <a:ext cx="1737360" cy="685800"/>
          </a:xfrm>
          <a:prstGeom prst="rect">
            <a:avLst/>
          </a:prstGeom>
          <a:noFill/>
          <a:ln/>
        </p:spPr>
        <p:txBody>
          <a:bodyPr wrap="square" lIns="50800" tIns="50800" rIns="50800" bIns="50800"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Jira ticket</a:t>
            </a:r>
            <a:endParaRPr lang="en-US" sz="1300" dirty="0"/>
          </a:p>
        </p:txBody>
      </p:sp>
      <p:sp>
        <p:nvSpPr>
          <p:cNvPr id="6" name="Text 4"/>
          <p:cNvSpPr txBox="1"/>
          <p:nvPr/>
        </p:nvSpPr>
        <p:spPr>
          <a:xfrm>
            <a:off x="2286000" y="1874520"/>
            <a:ext cx="365760" cy="685800"/>
          </a:xfrm>
          <a:prstGeom prst="rect">
            <a:avLst/>
          </a:prstGeom>
          <a:noFill/>
          <a:ln/>
        </p:spPr>
        <p:txBody>
          <a:bodyPr wrap="square" lIns="0" tIns="0" rIns="0" bIns="0" rtlCol="0" anchor="ctr"/>
          <a:lstStyle/>
          <a:p>
            <a:pPr algn="ctr" indent="0" marL="0">
              <a:buNone/>
            </a:pPr>
            <a:r>
              <a:rPr lang="en-US" sz="1600" dirty="0">
                <a:solidFill>
                  <a:srgbClr val="B45309"/>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651760" y="1874520"/>
            <a:ext cx="1737360" cy="685800"/>
          </a:xfrm>
          <a:prstGeom prst="roundRect">
            <a:avLst>
              <a:gd name="adj" fmla="val 10667"/>
            </a:avLst>
          </a:prstGeom>
          <a:solidFill>
            <a:srgbClr val="FDF1E3"/>
          </a:solidFill>
          <a:ln w="12700">
            <a:solidFill>
              <a:srgbClr val="FDF1E3"/>
            </a:solidFill>
            <a:prstDash val="solid"/>
          </a:ln>
        </p:spPr>
      </p:sp>
      <p:sp>
        <p:nvSpPr>
          <p:cNvPr id="8" name="Text 6"/>
          <p:cNvSpPr txBox="1"/>
          <p:nvPr/>
        </p:nvSpPr>
        <p:spPr>
          <a:xfrm>
            <a:off x="2651760" y="1874520"/>
            <a:ext cx="1737360" cy="685800"/>
          </a:xfrm>
          <a:prstGeom prst="rect">
            <a:avLst/>
          </a:prstGeom>
          <a:noFill/>
          <a:ln/>
        </p:spPr>
        <p:txBody>
          <a:bodyPr wrap="square" lIns="50800" tIns="50800" rIns="50800" bIns="50800"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Understand the issue</a:t>
            </a:r>
            <a:endParaRPr lang="en-US" sz="1300" dirty="0"/>
          </a:p>
        </p:txBody>
      </p:sp>
      <p:sp>
        <p:nvSpPr>
          <p:cNvPr id="9" name="Text 7"/>
          <p:cNvSpPr txBox="1"/>
          <p:nvPr/>
        </p:nvSpPr>
        <p:spPr>
          <a:xfrm>
            <a:off x="4389120" y="1874520"/>
            <a:ext cx="365760" cy="685800"/>
          </a:xfrm>
          <a:prstGeom prst="rect">
            <a:avLst/>
          </a:prstGeom>
          <a:noFill/>
          <a:ln/>
        </p:spPr>
        <p:txBody>
          <a:bodyPr wrap="square" lIns="0" tIns="0" rIns="0" bIns="0" rtlCol="0" anchor="ctr"/>
          <a:lstStyle/>
          <a:p>
            <a:pPr algn="ctr" indent="0" marL="0">
              <a:buNone/>
            </a:pPr>
            <a:r>
              <a:rPr lang="en-US" sz="1600" dirty="0">
                <a:solidFill>
                  <a:srgbClr val="B45309"/>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4754880" y="1874520"/>
            <a:ext cx="1737360" cy="685800"/>
          </a:xfrm>
          <a:prstGeom prst="roundRect">
            <a:avLst>
              <a:gd name="adj" fmla="val 10667"/>
            </a:avLst>
          </a:prstGeom>
          <a:solidFill>
            <a:srgbClr val="FDF1E3"/>
          </a:solidFill>
          <a:ln w="12700">
            <a:solidFill>
              <a:srgbClr val="FDF1E3"/>
            </a:solidFill>
            <a:prstDash val="solid"/>
          </a:ln>
        </p:spPr>
      </p:sp>
      <p:sp>
        <p:nvSpPr>
          <p:cNvPr id="11" name="Text 9"/>
          <p:cNvSpPr txBox="1"/>
          <p:nvPr/>
        </p:nvSpPr>
        <p:spPr>
          <a:xfrm>
            <a:off x="4754880" y="1874520"/>
            <a:ext cx="1737360" cy="685800"/>
          </a:xfrm>
          <a:prstGeom prst="rect">
            <a:avLst/>
          </a:prstGeom>
          <a:noFill/>
          <a:ln/>
        </p:spPr>
        <p:txBody>
          <a:bodyPr wrap="square" lIns="50800" tIns="50800" rIns="50800" bIns="50800"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Identify PREMIA screen</a:t>
            </a:r>
            <a:endParaRPr lang="en-US" sz="1300" dirty="0"/>
          </a:p>
        </p:txBody>
      </p:sp>
      <p:sp>
        <p:nvSpPr>
          <p:cNvPr id="12" name="Text 10"/>
          <p:cNvSpPr txBox="1"/>
          <p:nvPr/>
        </p:nvSpPr>
        <p:spPr>
          <a:xfrm>
            <a:off x="6492240" y="1874520"/>
            <a:ext cx="365760" cy="685800"/>
          </a:xfrm>
          <a:prstGeom prst="rect">
            <a:avLst/>
          </a:prstGeom>
          <a:noFill/>
          <a:ln/>
        </p:spPr>
        <p:txBody>
          <a:bodyPr wrap="square" lIns="0" tIns="0" rIns="0" bIns="0" rtlCol="0" anchor="ctr"/>
          <a:lstStyle/>
          <a:p>
            <a:pPr algn="ctr" indent="0" marL="0">
              <a:buNone/>
            </a:pPr>
            <a:r>
              <a:rPr lang="en-US" sz="1600" dirty="0">
                <a:solidFill>
                  <a:srgbClr val="B45309"/>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6858000" y="1874520"/>
            <a:ext cx="1737360" cy="685800"/>
          </a:xfrm>
          <a:prstGeom prst="roundRect">
            <a:avLst>
              <a:gd name="adj" fmla="val 10667"/>
            </a:avLst>
          </a:prstGeom>
          <a:solidFill>
            <a:srgbClr val="FDF1E3"/>
          </a:solidFill>
          <a:ln w="12700">
            <a:solidFill>
              <a:srgbClr val="FDF1E3"/>
            </a:solidFill>
            <a:prstDash val="solid"/>
          </a:ln>
        </p:spPr>
      </p:sp>
      <p:sp>
        <p:nvSpPr>
          <p:cNvPr id="14" name="Text 12"/>
          <p:cNvSpPr txBox="1"/>
          <p:nvPr/>
        </p:nvSpPr>
        <p:spPr>
          <a:xfrm>
            <a:off x="6858000" y="1874520"/>
            <a:ext cx="1737360" cy="685800"/>
          </a:xfrm>
          <a:prstGeom prst="rect">
            <a:avLst/>
          </a:prstGeom>
          <a:noFill/>
          <a:ln/>
        </p:spPr>
        <p:txBody>
          <a:bodyPr wrap="square" lIns="50800" tIns="50800" rIns="50800" bIns="50800"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Find the Form</a:t>
            </a:r>
            <a:endParaRPr lang="en-US" sz="1300" dirty="0"/>
          </a:p>
        </p:txBody>
      </p:sp>
      <p:sp>
        <p:nvSpPr>
          <p:cNvPr id="15" name="Shape 13"/>
          <p:cNvSpPr/>
          <p:nvPr/>
        </p:nvSpPr>
        <p:spPr>
          <a:xfrm>
            <a:off x="548640" y="2926080"/>
            <a:ext cx="1737360" cy="685800"/>
          </a:xfrm>
          <a:prstGeom prst="roundRect">
            <a:avLst>
              <a:gd name="adj" fmla="val 10667"/>
            </a:avLst>
          </a:prstGeom>
          <a:solidFill>
            <a:srgbClr val="FDF1E3"/>
          </a:solidFill>
          <a:ln w="12700">
            <a:solidFill>
              <a:srgbClr val="FDF1E3"/>
            </a:solidFill>
            <a:prstDash val="solid"/>
          </a:ln>
        </p:spPr>
      </p:sp>
      <p:sp>
        <p:nvSpPr>
          <p:cNvPr id="16" name="Text 14"/>
          <p:cNvSpPr txBox="1"/>
          <p:nvPr/>
        </p:nvSpPr>
        <p:spPr>
          <a:xfrm>
            <a:off x="548640" y="2926080"/>
            <a:ext cx="1737360" cy="685800"/>
          </a:xfrm>
          <a:prstGeom prst="rect">
            <a:avLst/>
          </a:prstGeom>
          <a:noFill/>
          <a:ln/>
        </p:spPr>
        <p:txBody>
          <a:bodyPr wrap="square" lIns="50800" tIns="50800" rIns="50800" bIns="50800"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Search triggers / PL/SQL</a:t>
            </a:r>
            <a:endParaRPr lang="en-US" sz="1300" dirty="0"/>
          </a:p>
        </p:txBody>
      </p:sp>
      <p:sp>
        <p:nvSpPr>
          <p:cNvPr id="17" name="Text 15"/>
          <p:cNvSpPr txBox="1"/>
          <p:nvPr/>
        </p:nvSpPr>
        <p:spPr>
          <a:xfrm>
            <a:off x="2286000" y="2926080"/>
            <a:ext cx="365760" cy="685800"/>
          </a:xfrm>
          <a:prstGeom prst="rect">
            <a:avLst/>
          </a:prstGeom>
          <a:noFill/>
          <a:ln/>
        </p:spPr>
        <p:txBody>
          <a:bodyPr wrap="square" lIns="0" tIns="0" rIns="0" bIns="0" rtlCol="0" anchor="ctr"/>
          <a:lstStyle/>
          <a:p>
            <a:pPr algn="ctr" indent="0" marL="0">
              <a:buNone/>
            </a:pPr>
            <a:r>
              <a:rPr lang="en-US" sz="1600" dirty="0">
                <a:solidFill>
                  <a:srgbClr val="B45309"/>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2651760" y="2926080"/>
            <a:ext cx="1737360" cy="685800"/>
          </a:xfrm>
          <a:prstGeom prst="roundRect">
            <a:avLst>
              <a:gd name="adj" fmla="val 10667"/>
            </a:avLst>
          </a:prstGeom>
          <a:solidFill>
            <a:srgbClr val="FDF1E3"/>
          </a:solidFill>
          <a:ln w="12700">
            <a:solidFill>
              <a:srgbClr val="FDF1E3"/>
            </a:solidFill>
            <a:prstDash val="solid"/>
          </a:ln>
        </p:spPr>
      </p:sp>
      <p:sp>
        <p:nvSpPr>
          <p:cNvPr id="19" name="Text 17"/>
          <p:cNvSpPr txBox="1"/>
          <p:nvPr/>
        </p:nvSpPr>
        <p:spPr>
          <a:xfrm>
            <a:off x="2651760" y="2926080"/>
            <a:ext cx="1737360" cy="685800"/>
          </a:xfrm>
          <a:prstGeom prst="rect">
            <a:avLst/>
          </a:prstGeom>
          <a:noFill/>
          <a:ln/>
        </p:spPr>
        <p:txBody>
          <a:bodyPr wrap="square" lIns="50800" tIns="50800" rIns="50800" bIns="50800"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Trace dependencies</a:t>
            </a:r>
            <a:endParaRPr lang="en-US" sz="1300" dirty="0"/>
          </a:p>
        </p:txBody>
      </p:sp>
      <p:sp>
        <p:nvSpPr>
          <p:cNvPr id="20" name="Text 18"/>
          <p:cNvSpPr txBox="1"/>
          <p:nvPr/>
        </p:nvSpPr>
        <p:spPr>
          <a:xfrm>
            <a:off x="4389120" y="2926080"/>
            <a:ext cx="365760" cy="685800"/>
          </a:xfrm>
          <a:prstGeom prst="rect">
            <a:avLst/>
          </a:prstGeom>
          <a:noFill/>
          <a:ln/>
        </p:spPr>
        <p:txBody>
          <a:bodyPr wrap="square" lIns="0" tIns="0" rIns="0" bIns="0" rtlCol="0" anchor="ctr"/>
          <a:lstStyle/>
          <a:p>
            <a:pPr algn="ctr" indent="0" marL="0">
              <a:buNone/>
            </a:pPr>
            <a:r>
              <a:rPr lang="en-US" sz="1600" dirty="0">
                <a:solidFill>
                  <a:srgbClr val="B45309"/>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4754880" y="2926080"/>
            <a:ext cx="1737360" cy="685800"/>
          </a:xfrm>
          <a:prstGeom prst="roundRect">
            <a:avLst>
              <a:gd name="adj" fmla="val 10667"/>
            </a:avLst>
          </a:prstGeom>
          <a:solidFill>
            <a:srgbClr val="FDF1E3"/>
          </a:solidFill>
          <a:ln w="12700">
            <a:solidFill>
              <a:srgbClr val="FDF1E3"/>
            </a:solidFill>
            <a:prstDash val="solid"/>
          </a:ln>
        </p:spPr>
      </p:sp>
      <p:sp>
        <p:nvSpPr>
          <p:cNvPr id="22" name="Text 20"/>
          <p:cNvSpPr txBox="1"/>
          <p:nvPr/>
        </p:nvSpPr>
        <p:spPr>
          <a:xfrm>
            <a:off x="4754880" y="2926080"/>
            <a:ext cx="1737360" cy="685800"/>
          </a:xfrm>
          <a:prstGeom prst="rect">
            <a:avLst/>
          </a:prstGeom>
          <a:noFill/>
          <a:ln/>
        </p:spPr>
        <p:txBody>
          <a:bodyPr wrap="square" lIns="50800" tIns="50800" rIns="50800" bIns="50800"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Check database logic</a:t>
            </a:r>
            <a:endParaRPr lang="en-US" sz="1300" dirty="0"/>
          </a:p>
        </p:txBody>
      </p:sp>
      <p:sp>
        <p:nvSpPr>
          <p:cNvPr id="23" name="Text 21"/>
          <p:cNvSpPr txBox="1"/>
          <p:nvPr/>
        </p:nvSpPr>
        <p:spPr>
          <a:xfrm>
            <a:off x="6492240" y="2926080"/>
            <a:ext cx="365760" cy="685800"/>
          </a:xfrm>
          <a:prstGeom prst="rect">
            <a:avLst/>
          </a:prstGeom>
          <a:noFill/>
          <a:ln/>
        </p:spPr>
        <p:txBody>
          <a:bodyPr wrap="square" lIns="0" tIns="0" rIns="0" bIns="0" rtlCol="0" anchor="ctr"/>
          <a:lstStyle/>
          <a:p>
            <a:pPr algn="ctr" indent="0" marL="0">
              <a:buNone/>
            </a:pPr>
            <a:r>
              <a:rPr lang="en-US" sz="1600" dirty="0">
                <a:solidFill>
                  <a:srgbClr val="B45309"/>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6858000" y="2926080"/>
            <a:ext cx="1737360" cy="685800"/>
          </a:xfrm>
          <a:prstGeom prst="roundRect">
            <a:avLst>
              <a:gd name="adj" fmla="val 10667"/>
            </a:avLst>
          </a:prstGeom>
          <a:solidFill>
            <a:srgbClr val="FDF1E3"/>
          </a:solidFill>
          <a:ln w="12700">
            <a:solidFill>
              <a:srgbClr val="FDF1E3"/>
            </a:solidFill>
            <a:prstDash val="solid"/>
          </a:ln>
        </p:spPr>
      </p:sp>
      <p:sp>
        <p:nvSpPr>
          <p:cNvPr id="25" name="Text 23"/>
          <p:cNvSpPr txBox="1"/>
          <p:nvPr/>
        </p:nvSpPr>
        <p:spPr>
          <a:xfrm>
            <a:off x="6858000" y="2926080"/>
            <a:ext cx="1737360" cy="685800"/>
          </a:xfrm>
          <a:prstGeom prst="rect">
            <a:avLst/>
          </a:prstGeom>
          <a:noFill/>
          <a:ln/>
        </p:spPr>
        <p:txBody>
          <a:bodyPr wrap="square" lIns="50800" tIns="50800" rIns="50800" bIns="50800"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Determine root cause</a:t>
            </a:r>
            <a:endParaRPr lang="en-US" sz="1300" dirty="0"/>
          </a:p>
        </p:txBody>
      </p:sp>
      <p:sp>
        <p:nvSpPr>
          <p:cNvPr id="26" name="Text 24"/>
          <p:cNvSpPr txBox="1"/>
          <p:nvPr/>
        </p:nvSpPr>
        <p:spPr>
          <a:xfrm>
            <a:off x="548640" y="4160520"/>
            <a:ext cx="8046720" cy="54864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Every step spans a different source — tickets, Forms, code, database logic — and depends on manual effort.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200" b="1" spc="300" kern="0" dirty="0">
                <a:solidFill>
                  <a:srgbClr val="0F766E"/>
                </a:solidFill>
                <a:latin typeface="Calibri" pitchFamily="34" charset="0"/>
                <a:ea typeface="Calibri" pitchFamily="34" charset="-122"/>
                <a:cs typeface="Calibri" pitchFamily="34" charset="-120"/>
              </a:rPr>
              <a:t>THE SOLUTION</a:t>
            </a:r>
            <a:endParaRPr lang="en-US" sz="1200" dirty="0"/>
          </a:p>
        </p:txBody>
      </p:sp>
      <p:sp>
        <p:nvSpPr>
          <p:cNvPr id="3" name="Text 1"/>
          <p:cNvSpPr txBox="1"/>
          <p:nvPr/>
        </p:nvSpPr>
        <p:spPr>
          <a:xfrm>
            <a:off x="548640" y="685800"/>
            <a:ext cx="8046720" cy="91440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A PREMIA-specific investigation assistant — not a generic chatbot</a:t>
            </a:r>
            <a:endParaRPr lang="en-US" sz="2800" dirty="0"/>
          </a:p>
        </p:txBody>
      </p:sp>
      <p:sp>
        <p:nvSpPr>
          <p:cNvPr id="4" name="Shape 2"/>
          <p:cNvSpPr/>
          <p:nvPr/>
        </p:nvSpPr>
        <p:spPr>
          <a:xfrm>
            <a:off x="548640" y="1828800"/>
            <a:ext cx="1207008" cy="822960"/>
          </a:xfrm>
          <a:prstGeom prst="roundRect">
            <a:avLst>
              <a:gd name="adj" fmla="val 8889"/>
            </a:avLst>
          </a:prstGeom>
          <a:solidFill>
            <a:srgbClr val="E6F2F1"/>
          </a:solidFill>
          <a:ln w="12700">
            <a:solidFill>
              <a:srgbClr val="E6F2F1"/>
            </a:solidFill>
            <a:prstDash val="solid"/>
          </a:ln>
        </p:spPr>
      </p:sp>
      <p:sp>
        <p:nvSpPr>
          <p:cNvPr id="5" name="Text 3"/>
          <p:cNvSpPr txBox="1"/>
          <p:nvPr/>
        </p:nvSpPr>
        <p:spPr>
          <a:xfrm>
            <a:off x="548640" y="1828800"/>
            <a:ext cx="1207008" cy="822960"/>
          </a:xfrm>
          <a:prstGeom prst="rect">
            <a:avLst/>
          </a:prstGeom>
          <a:noFill/>
          <a:ln/>
        </p:spPr>
        <p:txBody>
          <a:bodyPr wrap="square" lIns="50800" tIns="50800" rIns="50800" bIns="50800" rtlCol="0" anchor="ctr"/>
          <a:lstStyle/>
          <a:p>
            <a:pPr algn="ctr" indent="0" marL="0">
              <a:buNone/>
            </a:pPr>
            <a:r>
              <a:rPr lang="en-US" sz="1200" b="1" dirty="0">
                <a:solidFill>
                  <a:srgbClr val="0F766E"/>
                </a:solidFill>
                <a:latin typeface="Calibri" pitchFamily="34" charset="0"/>
                <a:ea typeface="Calibri" pitchFamily="34" charset="-122"/>
                <a:cs typeface="Calibri" pitchFamily="34" charset="-120"/>
              </a:rPr>
              <a:t>Support ticket</a:t>
            </a:r>
            <a:endParaRPr lang="en-US" sz="1200" dirty="0"/>
          </a:p>
        </p:txBody>
      </p:sp>
      <p:sp>
        <p:nvSpPr>
          <p:cNvPr id="6" name="Shape 4"/>
          <p:cNvSpPr/>
          <p:nvPr/>
        </p:nvSpPr>
        <p:spPr>
          <a:xfrm>
            <a:off x="1916582" y="1828800"/>
            <a:ext cx="1207008" cy="822960"/>
          </a:xfrm>
          <a:prstGeom prst="roundRect">
            <a:avLst>
              <a:gd name="adj" fmla="val 8889"/>
            </a:avLst>
          </a:prstGeom>
          <a:solidFill>
            <a:srgbClr val="E6F2F1"/>
          </a:solidFill>
          <a:ln w="12700">
            <a:solidFill>
              <a:srgbClr val="E6F2F1"/>
            </a:solidFill>
            <a:prstDash val="solid"/>
          </a:ln>
        </p:spPr>
      </p:sp>
      <p:sp>
        <p:nvSpPr>
          <p:cNvPr id="7" name="Text 5"/>
          <p:cNvSpPr txBox="1"/>
          <p:nvPr/>
        </p:nvSpPr>
        <p:spPr>
          <a:xfrm>
            <a:off x="1916582" y="1828800"/>
            <a:ext cx="1207008" cy="822960"/>
          </a:xfrm>
          <a:prstGeom prst="rect">
            <a:avLst/>
          </a:prstGeom>
          <a:noFill/>
          <a:ln/>
        </p:spPr>
        <p:txBody>
          <a:bodyPr wrap="square" lIns="50800" tIns="50800" rIns="50800" bIns="50800" rtlCol="0" anchor="ctr"/>
          <a:lstStyle/>
          <a:p>
            <a:pPr algn="ctr" indent="0" marL="0">
              <a:buNone/>
            </a:pPr>
            <a:r>
              <a:rPr lang="en-US" sz="1200" b="1" dirty="0">
                <a:solidFill>
                  <a:srgbClr val="0F766E"/>
                </a:solidFill>
                <a:latin typeface="Calibri" pitchFamily="34" charset="0"/>
                <a:ea typeface="Calibri" pitchFamily="34" charset="-122"/>
                <a:cs typeface="Calibri" pitchFamily="34" charset="-120"/>
              </a:rPr>
              <a:t>Understand incident</a:t>
            </a:r>
            <a:endParaRPr lang="en-US" sz="1200" dirty="0"/>
          </a:p>
        </p:txBody>
      </p:sp>
      <p:sp>
        <p:nvSpPr>
          <p:cNvPr id="8" name="Shape 6"/>
          <p:cNvSpPr/>
          <p:nvPr/>
        </p:nvSpPr>
        <p:spPr>
          <a:xfrm>
            <a:off x="3284525" y="1828800"/>
            <a:ext cx="1207008" cy="822960"/>
          </a:xfrm>
          <a:prstGeom prst="roundRect">
            <a:avLst>
              <a:gd name="adj" fmla="val 8889"/>
            </a:avLst>
          </a:prstGeom>
          <a:solidFill>
            <a:srgbClr val="E6F2F1"/>
          </a:solidFill>
          <a:ln w="12700">
            <a:solidFill>
              <a:srgbClr val="E6F2F1"/>
            </a:solidFill>
            <a:prstDash val="solid"/>
          </a:ln>
        </p:spPr>
      </p:sp>
      <p:sp>
        <p:nvSpPr>
          <p:cNvPr id="9" name="Text 7"/>
          <p:cNvSpPr txBox="1"/>
          <p:nvPr/>
        </p:nvSpPr>
        <p:spPr>
          <a:xfrm>
            <a:off x="3284525" y="1828800"/>
            <a:ext cx="1207008" cy="822960"/>
          </a:xfrm>
          <a:prstGeom prst="rect">
            <a:avLst/>
          </a:prstGeom>
          <a:noFill/>
          <a:ln/>
        </p:spPr>
        <p:txBody>
          <a:bodyPr wrap="square" lIns="50800" tIns="50800" rIns="50800" bIns="50800" rtlCol="0" anchor="ctr"/>
          <a:lstStyle/>
          <a:p>
            <a:pPr algn="ctr" indent="0" marL="0">
              <a:buNone/>
            </a:pPr>
            <a:r>
              <a:rPr lang="en-US" sz="1200" b="1" dirty="0">
                <a:solidFill>
                  <a:srgbClr val="0F766E"/>
                </a:solidFill>
                <a:latin typeface="Calibri" pitchFamily="34" charset="0"/>
                <a:ea typeface="Calibri" pitchFamily="34" charset="-122"/>
                <a:cs typeface="Calibri" pitchFamily="34" charset="-120"/>
              </a:rPr>
              <a:t>Find PREMIA area</a:t>
            </a:r>
            <a:endParaRPr lang="en-US" sz="1200" dirty="0"/>
          </a:p>
        </p:txBody>
      </p:sp>
      <p:sp>
        <p:nvSpPr>
          <p:cNvPr id="10" name="Shape 8"/>
          <p:cNvSpPr/>
          <p:nvPr/>
        </p:nvSpPr>
        <p:spPr>
          <a:xfrm>
            <a:off x="4652467" y="1828800"/>
            <a:ext cx="1207008" cy="822960"/>
          </a:xfrm>
          <a:prstGeom prst="roundRect">
            <a:avLst>
              <a:gd name="adj" fmla="val 8889"/>
            </a:avLst>
          </a:prstGeom>
          <a:solidFill>
            <a:srgbClr val="E6F2F1"/>
          </a:solidFill>
          <a:ln w="12700">
            <a:solidFill>
              <a:srgbClr val="E6F2F1"/>
            </a:solidFill>
            <a:prstDash val="solid"/>
          </a:ln>
        </p:spPr>
      </p:sp>
      <p:sp>
        <p:nvSpPr>
          <p:cNvPr id="11" name="Text 9"/>
          <p:cNvSpPr txBox="1"/>
          <p:nvPr/>
        </p:nvSpPr>
        <p:spPr>
          <a:xfrm>
            <a:off x="4652467" y="1828800"/>
            <a:ext cx="1207008" cy="822960"/>
          </a:xfrm>
          <a:prstGeom prst="rect">
            <a:avLst/>
          </a:prstGeom>
          <a:noFill/>
          <a:ln/>
        </p:spPr>
        <p:txBody>
          <a:bodyPr wrap="square" lIns="50800" tIns="50800" rIns="50800" bIns="50800" rtlCol="0" anchor="ctr"/>
          <a:lstStyle/>
          <a:p>
            <a:pPr algn="ctr" indent="0" marL="0">
              <a:buNone/>
            </a:pPr>
            <a:r>
              <a:rPr lang="en-US" sz="1200" b="1" dirty="0">
                <a:solidFill>
                  <a:srgbClr val="0F766E"/>
                </a:solidFill>
                <a:latin typeface="Calibri" pitchFamily="34" charset="0"/>
                <a:ea typeface="Calibri" pitchFamily="34" charset="-122"/>
                <a:cs typeface="Calibri" pitchFamily="34" charset="-120"/>
              </a:rPr>
              <a:t>Trace logic &amp; dependencies</a:t>
            </a:r>
            <a:endParaRPr lang="en-US" sz="1200" dirty="0"/>
          </a:p>
        </p:txBody>
      </p:sp>
      <p:sp>
        <p:nvSpPr>
          <p:cNvPr id="12" name="Shape 10"/>
          <p:cNvSpPr/>
          <p:nvPr/>
        </p:nvSpPr>
        <p:spPr>
          <a:xfrm>
            <a:off x="6020410" y="1828800"/>
            <a:ext cx="1207008" cy="822960"/>
          </a:xfrm>
          <a:prstGeom prst="roundRect">
            <a:avLst>
              <a:gd name="adj" fmla="val 8889"/>
            </a:avLst>
          </a:prstGeom>
          <a:solidFill>
            <a:srgbClr val="E6F2F1"/>
          </a:solidFill>
          <a:ln w="12700">
            <a:solidFill>
              <a:srgbClr val="E6F2F1"/>
            </a:solidFill>
            <a:prstDash val="solid"/>
          </a:ln>
        </p:spPr>
      </p:sp>
      <p:sp>
        <p:nvSpPr>
          <p:cNvPr id="13" name="Text 11"/>
          <p:cNvSpPr txBox="1"/>
          <p:nvPr/>
        </p:nvSpPr>
        <p:spPr>
          <a:xfrm>
            <a:off x="6020410" y="1828800"/>
            <a:ext cx="1207008" cy="822960"/>
          </a:xfrm>
          <a:prstGeom prst="rect">
            <a:avLst/>
          </a:prstGeom>
          <a:noFill/>
          <a:ln/>
        </p:spPr>
        <p:txBody>
          <a:bodyPr wrap="square" lIns="50800" tIns="50800" rIns="50800" bIns="50800" rtlCol="0" anchor="ctr"/>
          <a:lstStyle/>
          <a:p>
            <a:pPr algn="ctr" indent="0" marL="0">
              <a:buNone/>
            </a:pPr>
            <a:r>
              <a:rPr lang="en-US" sz="1200" b="1" dirty="0">
                <a:solidFill>
                  <a:srgbClr val="0F766E"/>
                </a:solidFill>
                <a:latin typeface="Calibri" pitchFamily="34" charset="0"/>
                <a:ea typeface="Calibri" pitchFamily="34" charset="-122"/>
                <a:cs typeface="Calibri" pitchFamily="34" charset="-120"/>
              </a:rPr>
              <a:t>Root cause analysis</a:t>
            </a:r>
            <a:endParaRPr lang="en-US" sz="1200" dirty="0"/>
          </a:p>
        </p:txBody>
      </p:sp>
      <p:sp>
        <p:nvSpPr>
          <p:cNvPr id="14" name="Shape 12"/>
          <p:cNvSpPr/>
          <p:nvPr/>
        </p:nvSpPr>
        <p:spPr>
          <a:xfrm>
            <a:off x="7388352" y="1828800"/>
            <a:ext cx="1207008" cy="822960"/>
          </a:xfrm>
          <a:prstGeom prst="roundRect">
            <a:avLst>
              <a:gd name="adj" fmla="val 8889"/>
            </a:avLst>
          </a:prstGeom>
          <a:solidFill>
            <a:srgbClr val="E6F2F1"/>
          </a:solidFill>
          <a:ln w="12700">
            <a:solidFill>
              <a:srgbClr val="E6F2F1"/>
            </a:solidFill>
            <a:prstDash val="solid"/>
          </a:ln>
        </p:spPr>
      </p:sp>
      <p:sp>
        <p:nvSpPr>
          <p:cNvPr id="15" name="Text 13"/>
          <p:cNvSpPr txBox="1"/>
          <p:nvPr/>
        </p:nvSpPr>
        <p:spPr>
          <a:xfrm>
            <a:off x="7388352" y="1828800"/>
            <a:ext cx="1207008" cy="822960"/>
          </a:xfrm>
          <a:prstGeom prst="rect">
            <a:avLst/>
          </a:prstGeom>
          <a:noFill/>
          <a:ln/>
        </p:spPr>
        <p:txBody>
          <a:bodyPr wrap="square" lIns="50800" tIns="50800" rIns="50800" bIns="50800" rtlCol="0" anchor="ctr"/>
          <a:lstStyle/>
          <a:p>
            <a:pPr algn="ctr" indent="0" marL="0">
              <a:buNone/>
            </a:pPr>
            <a:r>
              <a:rPr lang="en-US" sz="1200" b="1" dirty="0">
                <a:solidFill>
                  <a:srgbClr val="0F766E"/>
                </a:solidFill>
                <a:latin typeface="Calibri" pitchFamily="34" charset="0"/>
                <a:ea typeface="Calibri" pitchFamily="34" charset="-122"/>
                <a:cs typeface="Calibri" pitchFamily="34" charset="-120"/>
              </a:rPr>
              <a:t>Validate</a:t>
            </a:r>
            <a:endParaRPr lang="en-US" sz="1200" dirty="0"/>
          </a:p>
        </p:txBody>
      </p:sp>
      <p:sp>
        <p:nvSpPr>
          <p:cNvPr id="16" name="Text 14"/>
          <p:cNvSpPr txBox="1"/>
          <p:nvPr/>
        </p:nvSpPr>
        <p:spPr>
          <a:xfrm>
            <a:off x="548640" y="2926080"/>
            <a:ext cx="8046720" cy="3200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What the engineer gets</a:t>
            </a:r>
            <a:endParaRPr lang="en-US" sz="1400" dirty="0"/>
          </a:p>
        </p:txBody>
      </p:sp>
      <p:sp>
        <p:nvSpPr>
          <p:cNvPr id="17" name="Text 15"/>
          <p:cNvSpPr txBox="1"/>
          <p:nvPr/>
        </p:nvSpPr>
        <p:spPr>
          <a:xfrm>
            <a:off x="548640" y="3291840"/>
            <a:ext cx="8046720" cy="1188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Where the issue is and which part of PREMIA is involved</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Why it may be happening, with the evidence behind it</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What to check next, and whether it is runtime-confirmed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200" b="1" spc="300" kern="0" dirty="0">
                <a:solidFill>
                  <a:srgbClr val="0F766E"/>
                </a:solidFill>
                <a:latin typeface="Calibri" pitchFamily="34" charset="0"/>
                <a:ea typeface="Calibri" pitchFamily="34" charset="-122"/>
                <a:cs typeface="Calibri" pitchFamily="34" charset="-120"/>
              </a:rPr>
              <a:t>OUR APPROACH</a:t>
            </a:r>
            <a:endParaRPr lang="en-US" sz="1200" dirty="0"/>
          </a:p>
        </p:txBody>
      </p:sp>
      <p:sp>
        <p:nvSpPr>
          <p:cNvPr id="3" name="Text 1"/>
          <p:cNvSpPr txBox="1"/>
          <p:nvPr/>
        </p:nvSpPr>
        <p:spPr>
          <a:xfrm>
            <a:off x="548640" y="685800"/>
            <a:ext cx="8046720" cy="91440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Evidence first: AI reasons from system evidence, not guesses</a:t>
            </a:r>
            <a:endParaRPr lang="en-US" sz="2800" dirty="0"/>
          </a:p>
        </p:txBody>
      </p:sp>
      <p:sp>
        <p:nvSpPr>
          <p:cNvPr id="4" name="Shape 2"/>
          <p:cNvSpPr/>
          <p:nvPr/>
        </p:nvSpPr>
        <p:spPr>
          <a:xfrm>
            <a:off x="548640" y="1691640"/>
            <a:ext cx="3886200" cy="1600200"/>
          </a:xfrm>
          <a:prstGeom prst="roundRect">
            <a:avLst>
              <a:gd name="adj" fmla="val 5714"/>
            </a:avLst>
          </a:prstGeom>
          <a:solidFill>
            <a:srgbClr val="FDF1E3"/>
          </a:solidFill>
          <a:ln w="12700">
            <a:solidFill>
              <a:srgbClr val="FDF1E3"/>
            </a:solidFill>
            <a:prstDash val="solid"/>
          </a:ln>
        </p:spPr>
      </p:sp>
      <p:sp>
        <p:nvSpPr>
          <p:cNvPr id="5" name="Text 3"/>
          <p:cNvSpPr txBox="1"/>
          <p:nvPr/>
        </p:nvSpPr>
        <p:spPr>
          <a:xfrm>
            <a:off x="822960" y="1828800"/>
            <a:ext cx="333756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NOT THIS</a:t>
            </a:r>
            <a:endParaRPr lang="en-US" sz="1200" dirty="0"/>
          </a:p>
        </p:txBody>
      </p:sp>
      <p:sp>
        <p:nvSpPr>
          <p:cNvPr id="6" name="Text 4"/>
          <p:cNvSpPr txBox="1"/>
          <p:nvPr/>
        </p:nvSpPr>
        <p:spPr>
          <a:xfrm>
            <a:off x="822960" y="2148840"/>
            <a:ext cx="3337560" cy="731520"/>
          </a:xfrm>
          <a:prstGeom prst="rect">
            <a:avLst/>
          </a:prstGeom>
          <a:noFill/>
          <a:ln/>
        </p:spPr>
        <p:txBody>
          <a:bodyPr wrap="square" lIns="0" tIns="0" rIns="0" bIns="0" rtlCol="0" anchor="t"/>
          <a:lstStyle/>
          <a:p>
            <a:pPr indent="0" marL="0">
              <a:buNone/>
            </a:pPr>
            <a:r>
              <a:rPr lang="en-US" sz="1800" b="1" dirty="0">
                <a:solidFill>
                  <a:srgbClr val="1F2937"/>
                </a:solidFill>
                <a:latin typeface="Calibri" pitchFamily="34" charset="0"/>
                <a:ea typeface="Calibri" pitchFamily="34" charset="-122"/>
                <a:cs typeface="Calibri" pitchFamily="34" charset="-120"/>
              </a:rPr>
              <a:t>Ticket → LLM guess</a:t>
            </a:r>
            <a:endParaRPr lang="en-US" sz="1800" dirty="0"/>
          </a:p>
        </p:txBody>
      </p:sp>
      <p:sp>
        <p:nvSpPr>
          <p:cNvPr id="7" name="Text 5"/>
          <p:cNvSpPr txBox="1"/>
          <p:nvPr/>
        </p:nvSpPr>
        <p:spPr>
          <a:xfrm>
            <a:off x="822960" y="2880360"/>
            <a:ext cx="333756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Unexplained, hard to audit</a:t>
            </a:r>
            <a:endParaRPr lang="en-US" sz="1300" dirty="0"/>
          </a:p>
        </p:txBody>
      </p:sp>
      <p:sp>
        <p:nvSpPr>
          <p:cNvPr id="8" name="Shape 6"/>
          <p:cNvSpPr/>
          <p:nvPr/>
        </p:nvSpPr>
        <p:spPr>
          <a:xfrm>
            <a:off x="4709160" y="1691640"/>
            <a:ext cx="3886200" cy="1600200"/>
          </a:xfrm>
          <a:prstGeom prst="roundRect">
            <a:avLst>
              <a:gd name="adj" fmla="val 5714"/>
            </a:avLst>
          </a:prstGeom>
          <a:solidFill>
            <a:srgbClr val="E6F2F1"/>
          </a:solidFill>
          <a:ln w="12700">
            <a:solidFill>
              <a:srgbClr val="E6F2F1"/>
            </a:solidFill>
            <a:prstDash val="solid"/>
          </a:ln>
        </p:spPr>
      </p:sp>
      <p:sp>
        <p:nvSpPr>
          <p:cNvPr id="9" name="Text 7"/>
          <p:cNvSpPr txBox="1"/>
          <p:nvPr/>
        </p:nvSpPr>
        <p:spPr>
          <a:xfrm>
            <a:off x="4983480" y="1828800"/>
            <a:ext cx="3337560" cy="274320"/>
          </a:xfrm>
          <a:prstGeom prst="rect">
            <a:avLst/>
          </a:prstGeom>
          <a:noFill/>
          <a:ln/>
        </p:spPr>
        <p:txBody>
          <a:bodyPr wrap="square" lIns="0" tIns="0" rIns="0" bIns="0"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THIS</a:t>
            </a:r>
            <a:endParaRPr lang="en-US" sz="1200" dirty="0"/>
          </a:p>
        </p:txBody>
      </p:sp>
      <p:sp>
        <p:nvSpPr>
          <p:cNvPr id="10" name="Text 8"/>
          <p:cNvSpPr txBox="1"/>
          <p:nvPr/>
        </p:nvSpPr>
        <p:spPr>
          <a:xfrm>
            <a:off x="4983480" y="2148840"/>
            <a:ext cx="3337560" cy="731520"/>
          </a:xfrm>
          <a:prstGeom prst="rect">
            <a:avLst/>
          </a:prstGeom>
          <a:noFill/>
          <a:ln/>
        </p:spPr>
        <p:txBody>
          <a:bodyPr wrap="square" lIns="0" tIns="0" rIns="0" bIns="0" rtlCol="0" anchor="t"/>
          <a:lstStyle/>
          <a:p>
            <a:pPr indent="0" marL="0">
              <a:buNone/>
            </a:pPr>
            <a:r>
              <a:rPr lang="en-US" sz="1800" b="1" dirty="0">
                <a:solidFill>
                  <a:srgbClr val="1F2937"/>
                </a:solidFill>
                <a:latin typeface="Calibri" pitchFamily="34" charset="0"/>
                <a:ea typeface="Calibri" pitchFamily="34" charset="-122"/>
                <a:cs typeface="Calibri" pitchFamily="34" charset="-120"/>
              </a:rPr>
              <a:t>System evidence → AI reasoning → validation</a:t>
            </a:r>
            <a:endParaRPr lang="en-US" sz="1800" dirty="0"/>
          </a:p>
        </p:txBody>
      </p:sp>
      <p:sp>
        <p:nvSpPr>
          <p:cNvPr id="11" name="Text 9"/>
          <p:cNvSpPr txBox="1"/>
          <p:nvPr/>
        </p:nvSpPr>
        <p:spPr>
          <a:xfrm>
            <a:off x="4983480" y="2880360"/>
            <a:ext cx="333756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Explainable, auditable, repeatable</a:t>
            </a:r>
            <a:endParaRPr lang="en-US" sz="1300" dirty="0"/>
          </a:p>
        </p:txBody>
      </p:sp>
      <p:sp>
        <p:nvSpPr>
          <p:cNvPr id="12" name="Text 10"/>
          <p:cNvSpPr txBox="1"/>
          <p:nvPr/>
        </p:nvSpPr>
        <p:spPr>
          <a:xfrm>
            <a:off x="548640" y="3520440"/>
            <a:ext cx="8046720" cy="27432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Every finding is graded, and never silently upgraded</a:t>
            </a:r>
            <a:endParaRPr lang="en-US" sz="1400" dirty="0"/>
          </a:p>
        </p:txBody>
      </p:sp>
      <p:sp>
        <p:nvSpPr>
          <p:cNvPr id="13" name="Shape 11"/>
          <p:cNvSpPr/>
          <p:nvPr/>
        </p:nvSpPr>
        <p:spPr>
          <a:xfrm>
            <a:off x="548640" y="3931920"/>
            <a:ext cx="1828800" cy="548640"/>
          </a:xfrm>
          <a:prstGeom prst="roundRect">
            <a:avLst>
              <a:gd name="adj" fmla="val 13333"/>
            </a:avLst>
          </a:prstGeom>
          <a:solidFill>
            <a:srgbClr val="E6F2F1"/>
          </a:solidFill>
          <a:ln w="12700">
            <a:solidFill>
              <a:srgbClr val="E6F2F1"/>
            </a:solidFill>
            <a:prstDash val="solid"/>
          </a:ln>
        </p:spPr>
      </p:sp>
      <p:sp>
        <p:nvSpPr>
          <p:cNvPr id="14" name="Text 12"/>
          <p:cNvSpPr txBox="1"/>
          <p:nvPr/>
        </p:nvSpPr>
        <p:spPr>
          <a:xfrm>
            <a:off x="548640" y="3931920"/>
            <a:ext cx="1828800" cy="548640"/>
          </a:xfrm>
          <a:prstGeom prst="rect">
            <a:avLst/>
          </a:prstGeom>
          <a:noFill/>
          <a:ln/>
        </p:spPr>
        <p:txBody>
          <a:bodyPr wrap="square" lIns="25400" tIns="25400" rIns="25400" bIns="25400" rtlCol="0" anchor="ctr"/>
          <a:lstStyle/>
          <a:p>
            <a:pPr algn="ctr" indent="0" marL="0">
              <a:buNone/>
            </a:pPr>
            <a:r>
              <a:rPr lang="en-US" sz="1300" b="1" dirty="0">
                <a:solidFill>
                  <a:srgbClr val="0F766E"/>
                </a:solidFill>
                <a:latin typeface="Calibri" pitchFamily="34" charset="0"/>
                <a:ea typeface="Calibri" pitchFamily="34" charset="-122"/>
                <a:cs typeface="Calibri" pitchFamily="34" charset="-120"/>
              </a:rPr>
              <a:t>Hypothesis</a:t>
            </a:r>
            <a:endParaRPr lang="en-US" sz="1300" dirty="0"/>
          </a:p>
        </p:txBody>
      </p:sp>
      <p:sp>
        <p:nvSpPr>
          <p:cNvPr id="15" name="Text 13"/>
          <p:cNvSpPr txBox="1"/>
          <p:nvPr/>
        </p:nvSpPr>
        <p:spPr>
          <a:xfrm>
            <a:off x="2377440" y="3931920"/>
            <a:ext cx="274320" cy="548640"/>
          </a:xfrm>
          <a:prstGeom prst="rect">
            <a:avLst/>
          </a:prstGeom>
          <a:noFill/>
          <a:ln/>
        </p:spPr>
        <p:txBody>
          <a:bodyPr wrap="square" lIns="0" tIns="0" rIns="0" bIns="0" rtlCol="0" anchor="ctr"/>
          <a:lstStyle/>
          <a:p>
            <a:pPr algn="ctr" indent="0" marL="0">
              <a:buNone/>
            </a:pPr>
            <a:r>
              <a:rPr lang="en-US" sz="1600" dirty="0">
                <a:solidFill>
                  <a:srgbClr val="0F766E"/>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2651760" y="3931920"/>
            <a:ext cx="1828800" cy="548640"/>
          </a:xfrm>
          <a:prstGeom prst="roundRect">
            <a:avLst>
              <a:gd name="adj" fmla="val 13333"/>
            </a:avLst>
          </a:prstGeom>
          <a:solidFill>
            <a:srgbClr val="E6F2F1"/>
          </a:solidFill>
          <a:ln w="12700">
            <a:solidFill>
              <a:srgbClr val="E6F2F1"/>
            </a:solidFill>
            <a:prstDash val="solid"/>
          </a:ln>
        </p:spPr>
      </p:sp>
      <p:sp>
        <p:nvSpPr>
          <p:cNvPr id="17" name="Text 15"/>
          <p:cNvSpPr txBox="1"/>
          <p:nvPr/>
        </p:nvSpPr>
        <p:spPr>
          <a:xfrm>
            <a:off x="2651760" y="3931920"/>
            <a:ext cx="1828800" cy="548640"/>
          </a:xfrm>
          <a:prstGeom prst="rect">
            <a:avLst/>
          </a:prstGeom>
          <a:noFill/>
          <a:ln/>
        </p:spPr>
        <p:txBody>
          <a:bodyPr wrap="square" lIns="25400" tIns="25400" rIns="25400" bIns="25400" rtlCol="0" anchor="ctr"/>
          <a:lstStyle/>
          <a:p>
            <a:pPr algn="ctr" indent="0" marL="0">
              <a:buNone/>
            </a:pPr>
            <a:r>
              <a:rPr lang="en-US" sz="1300" b="1" dirty="0">
                <a:solidFill>
                  <a:srgbClr val="0F766E"/>
                </a:solidFill>
                <a:latin typeface="Calibri" pitchFamily="34" charset="0"/>
                <a:ea typeface="Calibri" pitchFamily="34" charset="-122"/>
                <a:cs typeface="Calibri" pitchFamily="34" charset="-120"/>
              </a:rPr>
              <a:t>Static evidence</a:t>
            </a:r>
            <a:endParaRPr lang="en-US" sz="1300" dirty="0"/>
          </a:p>
        </p:txBody>
      </p:sp>
      <p:sp>
        <p:nvSpPr>
          <p:cNvPr id="18" name="Text 16"/>
          <p:cNvSpPr txBox="1"/>
          <p:nvPr/>
        </p:nvSpPr>
        <p:spPr>
          <a:xfrm>
            <a:off x="4480560" y="3931920"/>
            <a:ext cx="274320" cy="548640"/>
          </a:xfrm>
          <a:prstGeom prst="rect">
            <a:avLst/>
          </a:prstGeom>
          <a:noFill/>
          <a:ln/>
        </p:spPr>
        <p:txBody>
          <a:bodyPr wrap="square" lIns="0" tIns="0" rIns="0" bIns="0" rtlCol="0" anchor="ctr"/>
          <a:lstStyle/>
          <a:p>
            <a:pPr algn="ctr" indent="0" marL="0">
              <a:buNone/>
            </a:pPr>
            <a:r>
              <a:rPr lang="en-US" sz="1600" dirty="0">
                <a:solidFill>
                  <a:srgbClr val="0F766E"/>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4754880" y="3931920"/>
            <a:ext cx="1828800" cy="548640"/>
          </a:xfrm>
          <a:prstGeom prst="roundRect">
            <a:avLst>
              <a:gd name="adj" fmla="val 13333"/>
            </a:avLst>
          </a:prstGeom>
          <a:solidFill>
            <a:srgbClr val="E6F2F1"/>
          </a:solidFill>
          <a:ln w="12700">
            <a:solidFill>
              <a:srgbClr val="E6F2F1"/>
            </a:solidFill>
            <a:prstDash val="solid"/>
          </a:ln>
        </p:spPr>
      </p:sp>
      <p:sp>
        <p:nvSpPr>
          <p:cNvPr id="20" name="Text 18"/>
          <p:cNvSpPr txBox="1"/>
          <p:nvPr/>
        </p:nvSpPr>
        <p:spPr>
          <a:xfrm>
            <a:off x="4754880" y="3931920"/>
            <a:ext cx="1828800" cy="548640"/>
          </a:xfrm>
          <a:prstGeom prst="rect">
            <a:avLst/>
          </a:prstGeom>
          <a:noFill/>
          <a:ln/>
        </p:spPr>
        <p:txBody>
          <a:bodyPr wrap="square" lIns="25400" tIns="25400" rIns="25400" bIns="25400" rtlCol="0" anchor="ctr"/>
          <a:lstStyle/>
          <a:p>
            <a:pPr algn="ctr" indent="0" marL="0">
              <a:buNone/>
            </a:pPr>
            <a:r>
              <a:rPr lang="en-US" sz="1300" b="1" dirty="0">
                <a:solidFill>
                  <a:srgbClr val="0F766E"/>
                </a:solidFill>
                <a:latin typeface="Calibri" pitchFamily="34" charset="0"/>
                <a:ea typeface="Calibri" pitchFamily="34" charset="-122"/>
                <a:cs typeface="Calibri" pitchFamily="34" charset="-120"/>
              </a:rPr>
              <a:t>Runtime confirmed</a:t>
            </a:r>
            <a:endParaRPr lang="en-US" sz="1300" dirty="0"/>
          </a:p>
        </p:txBody>
      </p:sp>
      <p:sp>
        <p:nvSpPr>
          <p:cNvPr id="21" name="Text 19"/>
          <p:cNvSpPr txBox="1"/>
          <p:nvPr/>
        </p:nvSpPr>
        <p:spPr>
          <a:xfrm>
            <a:off x="6583680" y="3931920"/>
            <a:ext cx="274320" cy="548640"/>
          </a:xfrm>
          <a:prstGeom prst="rect">
            <a:avLst/>
          </a:prstGeom>
          <a:noFill/>
          <a:ln/>
        </p:spPr>
        <p:txBody>
          <a:bodyPr wrap="square" lIns="0" tIns="0" rIns="0" bIns="0" rtlCol="0" anchor="ctr"/>
          <a:lstStyle/>
          <a:p>
            <a:pPr algn="ctr" indent="0" marL="0">
              <a:buNone/>
            </a:pPr>
            <a:r>
              <a:rPr lang="en-US" sz="1600" dirty="0">
                <a:solidFill>
                  <a:srgbClr val="0F766E"/>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6858000" y="3931920"/>
            <a:ext cx="1828800" cy="548640"/>
          </a:xfrm>
          <a:prstGeom prst="roundRect">
            <a:avLst>
              <a:gd name="adj" fmla="val 13333"/>
            </a:avLst>
          </a:prstGeom>
          <a:solidFill>
            <a:srgbClr val="0F766E"/>
          </a:solidFill>
          <a:ln w="12700">
            <a:solidFill>
              <a:srgbClr val="0F766E"/>
            </a:solidFill>
            <a:prstDash val="solid"/>
          </a:ln>
        </p:spPr>
      </p:sp>
      <p:sp>
        <p:nvSpPr>
          <p:cNvPr id="23" name="Text 21"/>
          <p:cNvSpPr txBox="1"/>
          <p:nvPr/>
        </p:nvSpPr>
        <p:spPr>
          <a:xfrm>
            <a:off x="6858000" y="3931920"/>
            <a:ext cx="1828800" cy="54864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SME validated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200" b="1" spc="300" kern="0" dirty="0">
                <a:solidFill>
                  <a:srgbClr val="0F766E"/>
                </a:solidFill>
                <a:latin typeface="Calibri" pitchFamily="34" charset="0"/>
                <a:ea typeface="Calibri" pitchFamily="34" charset="-122"/>
                <a:cs typeface="Calibri" pitchFamily="34" charset="-120"/>
              </a:rPr>
              <a:t>WHERE WE ARE</a:t>
            </a:r>
            <a:endParaRPr lang="en-US" sz="1200" dirty="0"/>
          </a:p>
        </p:txBody>
      </p:sp>
      <p:sp>
        <p:nvSpPr>
          <p:cNvPr id="3" name="Text 1"/>
          <p:cNvSpPr txBox="1"/>
          <p:nvPr/>
        </p:nvSpPr>
        <p:spPr>
          <a:xfrm>
            <a:off x="548640" y="685800"/>
            <a:ext cx="8046720" cy="91440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The PREMIA codebase is already processed into a structured intelligence layer</a:t>
            </a:r>
            <a:endParaRPr lang="en-US" sz="2800" dirty="0"/>
          </a:p>
        </p:txBody>
      </p:sp>
      <p:sp>
        <p:nvSpPr>
          <p:cNvPr id="4" name="Shape 2"/>
          <p:cNvSpPr/>
          <p:nvPr/>
        </p:nvSpPr>
        <p:spPr>
          <a:xfrm>
            <a:off x="548640" y="1920240"/>
            <a:ext cx="1828800" cy="1463040"/>
          </a:xfrm>
          <a:prstGeom prst="roundRect">
            <a:avLst>
              <a:gd name="adj" fmla="val 6250"/>
            </a:avLst>
          </a:prstGeom>
          <a:solidFill>
            <a:srgbClr val="E6F2F1"/>
          </a:solidFill>
          <a:ln w="12700">
            <a:solidFill>
              <a:srgbClr val="E6F2F1"/>
            </a:solidFill>
            <a:prstDash val="solid"/>
          </a:ln>
        </p:spPr>
      </p:sp>
      <p:sp>
        <p:nvSpPr>
          <p:cNvPr id="5" name="Text 3"/>
          <p:cNvSpPr txBox="1"/>
          <p:nvPr/>
        </p:nvSpPr>
        <p:spPr>
          <a:xfrm>
            <a:off x="548640" y="2057400"/>
            <a:ext cx="1828800" cy="731520"/>
          </a:xfrm>
          <a:prstGeom prst="rect">
            <a:avLst/>
          </a:prstGeom>
          <a:noFill/>
          <a:ln/>
        </p:spPr>
        <p:txBody>
          <a:bodyPr wrap="square" lIns="0" tIns="0" rIns="0" bIns="0" rtlCol="0" anchor="ctr"/>
          <a:lstStyle/>
          <a:p>
            <a:pPr algn="ctr" indent="0" marL="0">
              <a:buNone/>
            </a:pPr>
            <a:r>
              <a:rPr lang="en-US" sz="3200" b="1" dirty="0">
                <a:solidFill>
                  <a:srgbClr val="0F766E"/>
                </a:solidFill>
                <a:latin typeface="Calibri" pitchFamily="34" charset="0"/>
                <a:ea typeface="Calibri" pitchFamily="34" charset="-122"/>
                <a:cs typeface="Calibri" pitchFamily="34" charset="-120"/>
              </a:rPr>
              <a:t>1,091</a:t>
            </a:r>
            <a:endParaRPr lang="en-US" sz="3200" dirty="0"/>
          </a:p>
        </p:txBody>
      </p:sp>
      <p:sp>
        <p:nvSpPr>
          <p:cNvPr id="6" name="Text 4"/>
          <p:cNvSpPr txBox="1"/>
          <p:nvPr/>
        </p:nvSpPr>
        <p:spPr>
          <a:xfrm>
            <a:off x="548640" y="2788920"/>
            <a:ext cx="1828800" cy="365760"/>
          </a:xfrm>
          <a:prstGeom prst="rect">
            <a:avLst/>
          </a:prstGeom>
          <a:noFill/>
          <a:ln/>
        </p:spPr>
        <p:txBody>
          <a:bodyPr wrap="square" lIns="0" tIns="0" rIns="0" bIns="0"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Forms</a:t>
            </a:r>
            <a:endParaRPr lang="en-US" sz="1400" dirty="0"/>
          </a:p>
        </p:txBody>
      </p:sp>
      <p:sp>
        <p:nvSpPr>
          <p:cNvPr id="7" name="Shape 5"/>
          <p:cNvSpPr/>
          <p:nvPr/>
        </p:nvSpPr>
        <p:spPr>
          <a:xfrm>
            <a:off x="2651760" y="1920240"/>
            <a:ext cx="1828800" cy="1463040"/>
          </a:xfrm>
          <a:prstGeom prst="roundRect">
            <a:avLst>
              <a:gd name="adj" fmla="val 6250"/>
            </a:avLst>
          </a:prstGeom>
          <a:solidFill>
            <a:srgbClr val="E6F2F1"/>
          </a:solidFill>
          <a:ln w="12700">
            <a:solidFill>
              <a:srgbClr val="E6F2F1"/>
            </a:solidFill>
            <a:prstDash val="solid"/>
          </a:ln>
        </p:spPr>
      </p:sp>
      <p:sp>
        <p:nvSpPr>
          <p:cNvPr id="8" name="Text 6"/>
          <p:cNvSpPr txBox="1"/>
          <p:nvPr/>
        </p:nvSpPr>
        <p:spPr>
          <a:xfrm>
            <a:off x="2651760" y="2057400"/>
            <a:ext cx="1828800" cy="731520"/>
          </a:xfrm>
          <a:prstGeom prst="rect">
            <a:avLst/>
          </a:prstGeom>
          <a:noFill/>
          <a:ln/>
        </p:spPr>
        <p:txBody>
          <a:bodyPr wrap="square" lIns="0" tIns="0" rIns="0" bIns="0" rtlCol="0" anchor="ctr"/>
          <a:lstStyle/>
          <a:p>
            <a:pPr algn="ctr" indent="0" marL="0">
              <a:buNone/>
            </a:pPr>
            <a:r>
              <a:rPr lang="en-US" sz="3200" b="1" dirty="0">
                <a:solidFill>
                  <a:srgbClr val="0F766E"/>
                </a:solidFill>
                <a:latin typeface="Calibri" pitchFamily="34" charset="0"/>
                <a:ea typeface="Calibri" pitchFamily="34" charset="-122"/>
                <a:cs typeface="Calibri" pitchFamily="34" charset="-120"/>
              </a:rPr>
              <a:t>57,753</a:t>
            </a:r>
            <a:endParaRPr lang="en-US" sz="3200" dirty="0"/>
          </a:p>
        </p:txBody>
      </p:sp>
      <p:sp>
        <p:nvSpPr>
          <p:cNvPr id="9" name="Text 7"/>
          <p:cNvSpPr txBox="1"/>
          <p:nvPr/>
        </p:nvSpPr>
        <p:spPr>
          <a:xfrm>
            <a:off x="2651760" y="2788920"/>
            <a:ext cx="1828800" cy="365760"/>
          </a:xfrm>
          <a:prstGeom prst="rect">
            <a:avLst/>
          </a:prstGeom>
          <a:noFill/>
          <a:ln/>
        </p:spPr>
        <p:txBody>
          <a:bodyPr wrap="square" lIns="0" tIns="0" rIns="0" bIns="0"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Triggers</a:t>
            </a:r>
            <a:endParaRPr lang="en-US" sz="1400" dirty="0"/>
          </a:p>
        </p:txBody>
      </p:sp>
      <p:sp>
        <p:nvSpPr>
          <p:cNvPr id="10" name="Shape 8"/>
          <p:cNvSpPr/>
          <p:nvPr/>
        </p:nvSpPr>
        <p:spPr>
          <a:xfrm>
            <a:off x="4754880" y="1920240"/>
            <a:ext cx="1828800" cy="1463040"/>
          </a:xfrm>
          <a:prstGeom prst="roundRect">
            <a:avLst>
              <a:gd name="adj" fmla="val 6250"/>
            </a:avLst>
          </a:prstGeom>
          <a:solidFill>
            <a:srgbClr val="E6F2F1"/>
          </a:solidFill>
          <a:ln w="12700">
            <a:solidFill>
              <a:srgbClr val="E6F2F1"/>
            </a:solidFill>
            <a:prstDash val="solid"/>
          </a:ln>
        </p:spPr>
      </p:sp>
      <p:sp>
        <p:nvSpPr>
          <p:cNvPr id="11" name="Text 9"/>
          <p:cNvSpPr txBox="1"/>
          <p:nvPr/>
        </p:nvSpPr>
        <p:spPr>
          <a:xfrm>
            <a:off x="4754880" y="2057400"/>
            <a:ext cx="1828800" cy="731520"/>
          </a:xfrm>
          <a:prstGeom prst="rect">
            <a:avLst/>
          </a:prstGeom>
          <a:noFill/>
          <a:ln/>
        </p:spPr>
        <p:txBody>
          <a:bodyPr wrap="square" lIns="0" tIns="0" rIns="0" bIns="0" rtlCol="0" anchor="ctr"/>
          <a:lstStyle/>
          <a:p>
            <a:pPr algn="ctr" indent="0" marL="0">
              <a:buNone/>
            </a:pPr>
            <a:r>
              <a:rPr lang="en-US" sz="3200" b="1" dirty="0">
                <a:solidFill>
                  <a:srgbClr val="0F766E"/>
                </a:solidFill>
                <a:latin typeface="Calibri" pitchFamily="34" charset="0"/>
                <a:ea typeface="Calibri" pitchFamily="34" charset="-122"/>
                <a:cs typeface="Calibri" pitchFamily="34" charset="-120"/>
              </a:rPr>
              <a:t>138,507</a:t>
            </a:r>
            <a:endParaRPr lang="en-US" sz="3200" dirty="0"/>
          </a:p>
        </p:txBody>
      </p:sp>
      <p:sp>
        <p:nvSpPr>
          <p:cNvPr id="12" name="Text 10"/>
          <p:cNvSpPr txBox="1"/>
          <p:nvPr/>
        </p:nvSpPr>
        <p:spPr>
          <a:xfrm>
            <a:off x="4754880" y="2788920"/>
            <a:ext cx="1828800" cy="365760"/>
          </a:xfrm>
          <a:prstGeom prst="rect">
            <a:avLst/>
          </a:prstGeom>
          <a:noFill/>
          <a:ln/>
        </p:spPr>
        <p:txBody>
          <a:bodyPr wrap="square" lIns="0" tIns="0" rIns="0" bIns="0"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Items</a:t>
            </a:r>
            <a:endParaRPr lang="en-US" sz="1400" dirty="0"/>
          </a:p>
        </p:txBody>
      </p:sp>
      <p:sp>
        <p:nvSpPr>
          <p:cNvPr id="13" name="Shape 11"/>
          <p:cNvSpPr/>
          <p:nvPr/>
        </p:nvSpPr>
        <p:spPr>
          <a:xfrm>
            <a:off x="6858000" y="1920240"/>
            <a:ext cx="1828800" cy="1463040"/>
          </a:xfrm>
          <a:prstGeom prst="roundRect">
            <a:avLst>
              <a:gd name="adj" fmla="val 6250"/>
            </a:avLst>
          </a:prstGeom>
          <a:solidFill>
            <a:srgbClr val="E6F2F1"/>
          </a:solidFill>
          <a:ln w="12700">
            <a:solidFill>
              <a:srgbClr val="E6F2F1"/>
            </a:solidFill>
            <a:prstDash val="solid"/>
          </a:ln>
        </p:spPr>
      </p:sp>
      <p:sp>
        <p:nvSpPr>
          <p:cNvPr id="14" name="Text 12"/>
          <p:cNvSpPr txBox="1"/>
          <p:nvPr/>
        </p:nvSpPr>
        <p:spPr>
          <a:xfrm>
            <a:off x="6858000" y="2057400"/>
            <a:ext cx="1828800" cy="731520"/>
          </a:xfrm>
          <a:prstGeom prst="rect">
            <a:avLst/>
          </a:prstGeom>
          <a:noFill/>
          <a:ln/>
        </p:spPr>
        <p:txBody>
          <a:bodyPr wrap="square" lIns="0" tIns="0" rIns="0" bIns="0" rtlCol="0" anchor="ctr"/>
          <a:lstStyle/>
          <a:p>
            <a:pPr algn="ctr" indent="0" marL="0">
              <a:buNone/>
            </a:pPr>
            <a:r>
              <a:rPr lang="en-US" sz="3200" b="1" dirty="0">
                <a:solidFill>
                  <a:srgbClr val="0F766E"/>
                </a:solidFill>
                <a:latin typeface="Calibri" pitchFamily="34" charset="0"/>
                <a:ea typeface="Calibri" pitchFamily="34" charset="-122"/>
                <a:cs typeface="Calibri" pitchFamily="34" charset="-120"/>
              </a:rPr>
              <a:t>244,688</a:t>
            </a:r>
            <a:endParaRPr lang="en-US" sz="3200" dirty="0"/>
          </a:p>
        </p:txBody>
      </p:sp>
      <p:sp>
        <p:nvSpPr>
          <p:cNvPr id="15" name="Text 13"/>
          <p:cNvSpPr txBox="1"/>
          <p:nvPr/>
        </p:nvSpPr>
        <p:spPr>
          <a:xfrm>
            <a:off x="6858000" y="2788920"/>
            <a:ext cx="1828800" cy="365760"/>
          </a:xfrm>
          <a:prstGeom prst="rect">
            <a:avLst/>
          </a:prstGeom>
          <a:noFill/>
          <a:ln/>
        </p:spPr>
        <p:txBody>
          <a:bodyPr wrap="square" lIns="0" tIns="0" rIns="0" bIns="0"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Dependencies</a:t>
            </a:r>
            <a:endParaRPr lang="en-US" sz="1400" dirty="0"/>
          </a:p>
        </p:txBody>
      </p:sp>
      <p:sp>
        <p:nvSpPr>
          <p:cNvPr id="16" name="Text 14"/>
          <p:cNvSpPr txBox="1"/>
          <p:nvPr/>
        </p:nvSpPr>
        <p:spPr>
          <a:xfrm>
            <a:off x="548640" y="3657600"/>
            <a:ext cx="804672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Also mapped: 56K control-flow graphs, 7,688 program units and 8,101 indexed errors.</a:t>
            </a:r>
            <a:endParaRPr lang="en-US" sz="1400" dirty="0"/>
          </a:p>
        </p:txBody>
      </p:sp>
      <p:sp>
        <p:nvSpPr>
          <p:cNvPr id="17" name="Text 15"/>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Now integrating Jira ticket intelligence with this foundation.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200" b="1" spc="300" kern="0" dirty="0">
                <a:solidFill>
                  <a:srgbClr val="0F766E"/>
                </a:solidFill>
                <a:latin typeface="Calibri" pitchFamily="34" charset="0"/>
                <a:ea typeface="Calibri" pitchFamily="34" charset="-122"/>
                <a:cs typeface="Calibri" pitchFamily="34" charset="-120"/>
              </a:rPr>
              <a:t>AVAILABLE TODAY</a:t>
            </a:r>
            <a:endParaRPr lang="en-US" sz="1200" dirty="0"/>
          </a:p>
        </p:txBody>
      </p:sp>
      <p:sp>
        <p:nvSpPr>
          <p:cNvPr id="3" name="Text 1"/>
          <p:cNvSpPr txBox="1"/>
          <p:nvPr/>
        </p:nvSpPr>
        <p:spPr>
          <a:xfrm>
            <a:off x="548640" y="685800"/>
            <a:ext cx="8046720" cy="91440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What the platform can already do</a:t>
            </a:r>
            <a:endParaRPr lang="en-US" sz="2800" dirty="0"/>
          </a:p>
        </p:txBody>
      </p:sp>
      <p:sp>
        <p:nvSpPr>
          <p:cNvPr id="4" name="Shape 2"/>
          <p:cNvSpPr/>
          <p:nvPr/>
        </p:nvSpPr>
        <p:spPr>
          <a:xfrm>
            <a:off x="548640" y="1417320"/>
            <a:ext cx="2606040" cy="822960"/>
          </a:xfrm>
          <a:prstGeom prst="roundRect">
            <a:avLst>
              <a:gd name="adj" fmla="val 8889"/>
            </a:avLst>
          </a:prstGeom>
          <a:solidFill>
            <a:srgbClr val="E6F2F1"/>
          </a:solidFill>
          <a:ln w="12700">
            <a:solidFill>
              <a:srgbClr val="E6F2F1"/>
            </a:solidFill>
            <a:prstDash val="solid"/>
          </a:ln>
        </p:spPr>
      </p:sp>
      <p:sp>
        <p:nvSpPr>
          <p:cNvPr id="5" name="Text 3"/>
          <p:cNvSpPr txBox="1"/>
          <p:nvPr/>
        </p:nvSpPr>
        <p:spPr>
          <a:xfrm>
            <a:off x="685800" y="1417320"/>
            <a:ext cx="2331720" cy="82296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Project ingestion</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Project dumps and an artifact registry</a:t>
            </a:r>
            <a:endParaRPr lang="en-US" sz="1300" dirty="0"/>
          </a:p>
        </p:txBody>
      </p:sp>
      <p:sp>
        <p:nvSpPr>
          <p:cNvPr id="6" name="Shape 4"/>
          <p:cNvSpPr/>
          <p:nvPr/>
        </p:nvSpPr>
        <p:spPr>
          <a:xfrm>
            <a:off x="3360420" y="1417320"/>
            <a:ext cx="2606040" cy="822960"/>
          </a:xfrm>
          <a:prstGeom prst="roundRect">
            <a:avLst>
              <a:gd name="adj" fmla="val 8889"/>
            </a:avLst>
          </a:prstGeom>
          <a:solidFill>
            <a:srgbClr val="E6F2F1"/>
          </a:solidFill>
          <a:ln w="12700">
            <a:solidFill>
              <a:srgbClr val="E6F2F1"/>
            </a:solidFill>
            <a:prstDash val="solid"/>
          </a:ln>
        </p:spPr>
      </p:sp>
      <p:sp>
        <p:nvSpPr>
          <p:cNvPr id="7" name="Text 5"/>
          <p:cNvSpPr txBox="1"/>
          <p:nvPr/>
        </p:nvSpPr>
        <p:spPr>
          <a:xfrm>
            <a:off x="3497580" y="1417320"/>
            <a:ext cx="2331720" cy="82296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Forms conversion</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Incremental Oracle Forms FMB → XML</a:t>
            </a:r>
            <a:endParaRPr lang="en-US" sz="1300" dirty="0"/>
          </a:p>
        </p:txBody>
      </p:sp>
      <p:sp>
        <p:nvSpPr>
          <p:cNvPr id="8" name="Shape 6"/>
          <p:cNvSpPr/>
          <p:nvPr/>
        </p:nvSpPr>
        <p:spPr>
          <a:xfrm>
            <a:off x="6172200" y="1417320"/>
            <a:ext cx="2606040" cy="822960"/>
          </a:xfrm>
          <a:prstGeom prst="roundRect">
            <a:avLst>
              <a:gd name="adj" fmla="val 8889"/>
            </a:avLst>
          </a:prstGeom>
          <a:solidFill>
            <a:srgbClr val="E6F2F1"/>
          </a:solidFill>
          <a:ln w="12700">
            <a:solidFill>
              <a:srgbClr val="E6F2F1"/>
            </a:solidFill>
            <a:prstDash val="solid"/>
          </a:ln>
        </p:spPr>
      </p:sp>
      <p:sp>
        <p:nvSpPr>
          <p:cNvPr id="9" name="Text 7"/>
          <p:cNvSpPr txBox="1"/>
          <p:nvPr/>
        </p:nvSpPr>
        <p:spPr>
          <a:xfrm>
            <a:off x="6309360" y="1417320"/>
            <a:ext cx="2331720" cy="82296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Structured index</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Forms, dependencies and errors with full-text search</a:t>
            </a:r>
            <a:endParaRPr lang="en-US" sz="1300" dirty="0"/>
          </a:p>
        </p:txBody>
      </p:sp>
      <p:sp>
        <p:nvSpPr>
          <p:cNvPr id="10" name="Shape 8"/>
          <p:cNvSpPr/>
          <p:nvPr/>
        </p:nvSpPr>
        <p:spPr>
          <a:xfrm>
            <a:off x="548640" y="2377440"/>
            <a:ext cx="2606040" cy="822960"/>
          </a:xfrm>
          <a:prstGeom prst="roundRect">
            <a:avLst>
              <a:gd name="adj" fmla="val 8889"/>
            </a:avLst>
          </a:prstGeom>
          <a:solidFill>
            <a:srgbClr val="E6F2F1"/>
          </a:solidFill>
          <a:ln w="12700">
            <a:solidFill>
              <a:srgbClr val="E6F2F1"/>
            </a:solidFill>
            <a:prstDash val="solid"/>
          </a:ln>
        </p:spPr>
      </p:sp>
      <p:sp>
        <p:nvSpPr>
          <p:cNvPr id="11" name="Text 9"/>
          <p:cNvSpPr txBox="1"/>
          <p:nvPr/>
        </p:nvSpPr>
        <p:spPr>
          <a:xfrm>
            <a:off x="685800" y="2377440"/>
            <a:ext cx="2331720" cy="82296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Flow analysis</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Deterministic control-flow (CFG) graphs</a:t>
            </a:r>
            <a:endParaRPr lang="en-US" sz="1300" dirty="0"/>
          </a:p>
        </p:txBody>
      </p:sp>
      <p:sp>
        <p:nvSpPr>
          <p:cNvPr id="12" name="Shape 10"/>
          <p:cNvSpPr/>
          <p:nvPr/>
        </p:nvSpPr>
        <p:spPr>
          <a:xfrm>
            <a:off x="3360420" y="2377440"/>
            <a:ext cx="2606040" cy="822960"/>
          </a:xfrm>
          <a:prstGeom prst="roundRect">
            <a:avLst>
              <a:gd name="adj" fmla="val 8889"/>
            </a:avLst>
          </a:prstGeom>
          <a:solidFill>
            <a:srgbClr val="E6F2F1"/>
          </a:solidFill>
          <a:ln w="12700">
            <a:solidFill>
              <a:srgbClr val="E6F2F1"/>
            </a:solidFill>
            <a:prstDash val="solid"/>
          </a:ln>
        </p:spPr>
      </p:sp>
      <p:sp>
        <p:nvSpPr>
          <p:cNvPr id="13" name="Text 11"/>
          <p:cNvSpPr txBox="1"/>
          <p:nvPr/>
        </p:nvSpPr>
        <p:spPr>
          <a:xfrm>
            <a:off x="3497580" y="2377440"/>
            <a:ext cx="2331720" cy="82296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Evidence retrieval</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RCA evidence with retrieval-quality metadata</a:t>
            </a:r>
            <a:endParaRPr lang="en-US" sz="1300" dirty="0"/>
          </a:p>
        </p:txBody>
      </p:sp>
      <p:sp>
        <p:nvSpPr>
          <p:cNvPr id="14" name="Shape 12"/>
          <p:cNvSpPr/>
          <p:nvPr/>
        </p:nvSpPr>
        <p:spPr>
          <a:xfrm>
            <a:off x="6172200" y="2377440"/>
            <a:ext cx="2606040" cy="822960"/>
          </a:xfrm>
          <a:prstGeom prst="roundRect">
            <a:avLst>
              <a:gd name="adj" fmla="val 8889"/>
            </a:avLst>
          </a:prstGeom>
          <a:solidFill>
            <a:srgbClr val="E6F2F1"/>
          </a:solidFill>
          <a:ln w="12700">
            <a:solidFill>
              <a:srgbClr val="E6F2F1"/>
            </a:solidFill>
            <a:prstDash val="solid"/>
          </a:ln>
        </p:spPr>
      </p:sp>
      <p:sp>
        <p:nvSpPr>
          <p:cNvPr id="15" name="Text 13"/>
          <p:cNvSpPr txBox="1"/>
          <p:nvPr/>
        </p:nvSpPr>
        <p:spPr>
          <a:xfrm>
            <a:off x="6309360" y="2377440"/>
            <a:ext cx="2331720" cy="82296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Sufficiency gate</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Checks the evidence is enough before RCA</a:t>
            </a:r>
            <a:endParaRPr lang="en-US" sz="1300" dirty="0"/>
          </a:p>
        </p:txBody>
      </p:sp>
      <p:sp>
        <p:nvSpPr>
          <p:cNvPr id="16" name="Shape 14"/>
          <p:cNvSpPr/>
          <p:nvPr/>
        </p:nvSpPr>
        <p:spPr>
          <a:xfrm>
            <a:off x="548640" y="3337560"/>
            <a:ext cx="2606040" cy="822960"/>
          </a:xfrm>
          <a:prstGeom prst="roundRect">
            <a:avLst>
              <a:gd name="adj" fmla="val 8889"/>
            </a:avLst>
          </a:prstGeom>
          <a:solidFill>
            <a:srgbClr val="E6F2F1"/>
          </a:solidFill>
          <a:ln w="12700">
            <a:solidFill>
              <a:srgbClr val="E6F2F1"/>
            </a:solidFill>
            <a:prstDash val="solid"/>
          </a:ln>
        </p:spPr>
      </p:sp>
      <p:sp>
        <p:nvSpPr>
          <p:cNvPr id="17" name="Text 15"/>
          <p:cNvSpPr txBox="1"/>
          <p:nvPr/>
        </p:nvSpPr>
        <p:spPr>
          <a:xfrm>
            <a:off x="685800" y="3337560"/>
            <a:ext cx="2331720" cy="82296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Bounded RCA context</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Only the relevant, limited context goes to the LLM</a:t>
            </a:r>
            <a:endParaRPr lang="en-US" sz="1300" dirty="0"/>
          </a:p>
        </p:txBody>
      </p:sp>
      <p:sp>
        <p:nvSpPr>
          <p:cNvPr id="18" name="Shape 16"/>
          <p:cNvSpPr/>
          <p:nvPr/>
        </p:nvSpPr>
        <p:spPr>
          <a:xfrm>
            <a:off x="3360420" y="3337560"/>
            <a:ext cx="2606040" cy="822960"/>
          </a:xfrm>
          <a:prstGeom prst="roundRect">
            <a:avLst>
              <a:gd name="adj" fmla="val 8889"/>
            </a:avLst>
          </a:prstGeom>
          <a:solidFill>
            <a:srgbClr val="E6F2F1"/>
          </a:solidFill>
          <a:ln w="12700">
            <a:solidFill>
              <a:srgbClr val="E6F2F1"/>
            </a:solidFill>
            <a:prstDash val="solid"/>
          </a:ln>
        </p:spPr>
      </p:sp>
      <p:sp>
        <p:nvSpPr>
          <p:cNvPr id="19" name="Text 17"/>
          <p:cNvSpPr txBox="1"/>
          <p:nvPr/>
        </p:nvSpPr>
        <p:spPr>
          <a:xfrm>
            <a:off x="3497580" y="3337560"/>
            <a:ext cx="2331720" cy="82296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LLM layer</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OpenAI-compatible provider, strict response validation</a:t>
            </a:r>
            <a:endParaRPr lang="en-US" sz="1300" dirty="0"/>
          </a:p>
        </p:txBody>
      </p:sp>
      <p:sp>
        <p:nvSpPr>
          <p:cNvPr id="20" name="Shape 18"/>
          <p:cNvSpPr/>
          <p:nvPr/>
        </p:nvSpPr>
        <p:spPr>
          <a:xfrm>
            <a:off x="6172200" y="3337560"/>
            <a:ext cx="2606040" cy="822960"/>
          </a:xfrm>
          <a:prstGeom prst="roundRect">
            <a:avLst>
              <a:gd name="adj" fmla="val 8889"/>
            </a:avLst>
          </a:prstGeom>
          <a:solidFill>
            <a:srgbClr val="E6F2F1"/>
          </a:solidFill>
          <a:ln w="12700">
            <a:solidFill>
              <a:srgbClr val="E6F2F1"/>
            </a:solidFill>
            <a:prstDash val="solid"/>
          </a:ln>
        </p:spPr>
      </p:sp>
      <p:sp>
        <p:nvSpPr>
          <p:cNvPr id="21" name="Text 19"/>
          <p:cNvSpPr txBox="1"/>
          <p:nvPr/>
        </p:nvSpPr>
        <p:spPr>
          <a:xfrm>
            <a:off x="6309360" y="3337560"/>
            <a:ext cx="2331720" cy="82296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Runtime foundation</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Groundwork for controlled runtime confirmation</a:t>
            </a:r>
            <a:endParaRPr lang="en-US" sz="1300" dirty="0"/>
          </a:p>
        </p:txBody>
      </p:sp>
      <p:sp>
        <p:nvSpPr>
          <p:cNvPr id="22" name="Text 20"/>
          <p:cNvSpPr txBox="1"/>
          <p:nvPr/>
        </p:nvSpPr>
        <p:spPr>
          <a:xfrm>
            <a:off x="548640" y="4389120"/>
            <a:ext cx="804672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All backed by an extensive automated regression test suite.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200" b="1" spc="300" kern="0" dirty="0">
                <a:solidFill>
                  <a:srgbClr val="0F766E"/>
                </a:solidFill>
                <a:latin typeface="Calibri" pitchFamily="34" charset="0"/>
                <a:ea typeface="Calibri" pitchFamily="34" charset="-122"/>
                <a:cs typeface="Calibri" pitchFamily="34" charset="-120"/>
              </a:rPr>
              <a:t>WHY THIS APPROACH</a:t>
            </a:r>
            <a:endParaRPr lang="en-US" sz="1200" dirty="0"/>
          </a:p>
        </p:txBody>
      </p:sp>
      <p:sp>
        <p:nvSpPr>
          <p:cNvPr id="3" name="Text 1"/>
          <p:cNvSpPr txBox="1"/>
          <p:nvPr/>
        </p:nvSpPr>
        <p:spPr>
          <a:xfrm>
            <a:off x="548640" y="685800"/>
            <a:ext cx="8046720" cy="91440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Why this plan and architecture work</a:t>
            </a:r>
            <a:endParaRPr lang="en-US" sz="2800" dirty="0"/>
          </a:p>
        </p:txBody>
      </p:sp>
      <p:sp>
        <p:nvSpPr>
          <p:cNvPr id="4" name="Shape 2"/>
          <p:cNvSpPr/>
          <p:nvPr/>
        </p:nvSpPr>
        <p:spPr>
          <a:xfrm>
            <a:off x="548640" y="1600200"/>
            <a:ext cx="2606040" cy="1371600"/>
          </a:xfrm>
          <a:prstGeom prst="roundRect">
            <a:avLst>
              <a:gd name="adj" fmla="val 6667"/>
            </a:avLst>
          </a:prstGeom>
          <a:solidFill>
            <a:srgbClr val="E6F2F1"/>
          </a:solidFill>
          <a:ln w="12700">
            <a:solidFill>
              <a:srgbClr val="E6F2F1"/>
            </a:solidFill>
            <a:prstDash val="solid"/>
          </a:ln>
        </p:spPr>
      </p:sp>
      <p:sp>
        <p:nvSpPr>
          <p:cNvPr id="5" name="Text 3"/>
          <p:cNvSpPr txBox="1"/>
          <p:nvPr/>
        </p:nvSpPr>
        <p:spPr>
          <a:xfrm>
            <a:off x="731520" y="1709928"/>
            <a:ext cx="2240280" cy="1152144"/>
          </a:xfrm>
          <a:prstGeom prst="rect">
            <a:avLst/>
          </a:prstGeom>
          <a:noFill/>
          <a:ln/>
        </p:spPr>
        <p:txBody>
          <a:bodyPr wrap="square" lIns="0" tIns="0" rIns="0" bIns="0" rtlCol="0" anchor="t"/>
          <a:lstStyle/>
          <a:p>
            <a:pPr indent="0" marL="0">
              <a:spcAft>
                <a:spcPts val="400"/>
              </a:spcAft>
              <a:buNone/>
            </a:pPr>
            <a:r>
              <a:rPr lang="en-US" sz="1400" b="1" dirty="0">
                <a:solidFill>
                  <a:srgbClr val="0F766E"/>
                </a:solidFill>
                <a:latin typeface="Calibri" pitchFamily="34" charset="0"/>
                <a:ea typeface="Calibri" pitchFamily="34" charset="-122"/>
                <a:cs typeface="Calibri" pitchFamily="34" charset="-120"/>
              </a:rPr>
              <a:t>Trustworthy answers</a:t>
            </a:r>
            <a:endParaRPr lang="en-US" sz="1400" dirty="0"/>
          </a:p>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Deterministic analysis is the source of truth. The LLM only proposes hypotheses from evidence.</a:t>
            </a:r>
            <a:endParaRPr lang="en-US" sz="1400" dirty="0"/>
          </a:p>
        </p:txBody>
      </p:sp>
      <p:sp>
        <p:nvSpPr>
          <p:cNvPr id="6" name="Shape 4"/>
          <p:cNvSpPr/>
          <p:nvPr/>
        </p:nvSpPr>
        <p:spPr>
          <a:xfrm>
            <a:off x="3360420" y="1600200"/>
            <a:ext cx="2606040" cy="1371600"/>
          </a:xfrm>
          <a:prstGeom prst="roundRect">
            <a:avLst>
              <a:gd name="adj" fmla="val 6667"/>
            </a:avLst>
          </a:prstGeom>
          <a:solidFill>
            <a:srgbClr val="E6F2F1"/>
          </a:solidFill>
          <a:ln w="12700">
            <a:solidFill>
              <a:srgbClr val="E6F2F1"/>
            </a:solidFill>
            <a:prstDash val="solid"/>
          </a:ln>
        </p:spPr>
      </p:sp>
      <p:sp>
        <p:nvSpPr>
          <p:cNvPr id="7" name="Text 5"/>
          <p:cNvSpPr txBox="1"/>
          <p:nvPr/>
        </p:nvSpPr>
        <p:spPr>
          <a:xfrm>
            <a:off x="3543300" y="1709928"/>
            <a:ext cx="2240280" cy="1152144"/>
          </a:xfrm>
          <a:prstGeom prst="rect">
            <a:avLst/>
          </a:prstGeom>
          <a:noFill/>
          <a:ln/>
        </p:spPr>
        <p:txBody>
          <a:bodyPr wrap="square" lIns="0" tIns="0" rIns="0" bIns="0" rtlCol="0" anchor="t"/>
          <a:lstStyle/>
          <a:p>
            <a:pPr indent="0" marL="0">
              <a:spcAft>
                <a:spcPts val="400"/>
              </a:spcAft>
              <a:buNone/>
            </a:pPr>
            <a:r>
              <a:rPr lang="en-US" sz="1400" b="1" dirty="0">
                <a:solidFill>
                  <a:srgbClr val="0F766E"/>
                </a:solidFill>
                <a:latin typeface="Calibri" pitchFamily="34" charset="0"/>
                <a:ea typeface="Calibri" pitchFamily="34" charset="-122"/>
                <a:cs typeface="Calibri" pitchFamily="34" charset="-120"/>
              </a:rPr>
              <a:t>Reproducible</a:t>
            </a:r>
            <a:endParaRPr lang="en-US" sz="1400" dirty="0"/>
          </a:p>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Every investigation is tied to a fixed snapshot of source, tooling and model version.</a:t>
            </a:r>
            <a:endParaRPr lang="en-US" sz="1400" dirty="0"/>
          </a:p>
        </p:txBody>
      </p:sp>
      <p:sp>
        <p:nvSpPr>
          <p:cNvPr id="8" name="Shape 6"/>
          <p:cNvSpPr/>
          <p:nvPr/>
        </p:nvSpPr>
        <p:spPr>
          <a:xfrm>
            <a:off x="6172200" y="1600200"/>
            <a:ext cx="2606040" cy="1371600"/>
          </a:xfrm>
          <a:prstGeom prst="roundRect">
            <a:avLst>
              <a:gd name="adj" fmla="val 6667"/>
            </a:avLst>
          </a:prstGeom>
          <a:solidFill>
            <a:srgbClr val="E6F2F1"/>
          </a:solidFill>
          <a:ln w="12700">
            <a:solidFill>
              <a:srgbClr val="E6F2F1"/>
            </a:solidFill>
            <a:prstDash val="solid"/>
          </a:ln>
        </p:spPr>
      </p:sp>
      <p:sp>
        <p:nvSpPr>
          <p:cNvPr id="9" name="Text 7"/>
          <p:cNvSpPr txBox="1"/>
          <p:nvPr/>
        </p:nvSpPr>
        <p:spPr>
          <a:xfrm>
            <a:off x="6355080" y="1709928"/>
            <a:ext cx="2240280" cy="1152144"/>
          </a:xfrm>
          <a:prstGeom prst="rect">
            <a:avLst/>
          </a:prstGeom>
          <a:noFill/>
          <a:ln/>
        </p:spPr>
        <p:txBody>
          <a:bodyPr wrap="square" lIns="0" tIns="0" rIns="0" bIns="0" rtlCol="0" anchor="t"/>
          <a:lstStyle/>
          <a:p>
            <a:pPr indent="0" marL="0">
              <a:spcAft>
                <a:spcPts val="400"/>
              </a:spcAft>
              <a:buNone/>
            </a:pPr>
            <a:r>
              <a:rPr lang="en-US" sz="1400" b="1" dirty="0">
                <a:solidFill>
                  <a:srgbClr val="0F766E"/>
                </a:solidFill>
                <a:latin typeface="Calibri" pitchFamily="34" charset="0"/>
                <a:ea typeface="Calibri" pitchFamily="34" charset="-122"/>
                <a:cs typeface="Calibri" pitchFamily="34" charset="-120"/>
              </a:rPr>
              <a:t>Safe runtime checks</a:t>
            </a:r>
            <a:endParaRPr lang="en-US" sz="1400" dirty="0"/>
          </a:p>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Templates only, read-only, human-approved, isolated and fully audited.</a:t>
            </a:r>
            <a:endParaRPr lang="en-US" sz="1400" dirty="0"/>
          </a:p>
        </p:txBody>
      </p:sp>
      <p:sp>
        <p:nvSpPr>
          <p:cNvPr id="10" name="Shape 8"/>
          <p:cNvSpPr/>
          <p:nvPr/>
        </p:nvSpPr>
        <p:spPr>
          <a:xfrm>
            <a:off x="548640" y="3154680"/>
            <a:ext cx="2606040" cy="1371600"/>
          </a:xfrm>
          <a:prstGeom prst="roundRect">
            <a:avLst>
              <a:gd name="adj" fmla="val 6667"/>
            </a:avLst>
          </a:prstGeom>
          <a:solidFill>
            <a:srgbClr val="E6F2F1"/>
          </a:solidFill>
          <a:ln w="12700">
            <a:solidFill>
              <a:srgbClr val="E6F2F1"/>
            </a:solidFill>
            <a:prstDash val="solid"/>
          </a:ln>
        </p:spPr>
      </p:sp>
      <p:sp>
        <p:nvSpPr>
          <p:cNvPr id="11" name="Text 9"/>
          <p:cNvSpPr txBox="1"/>
          <p:nvPr/>
        </p:nvSpPr>
        <p:spPr>
          <a:xfrm>
            <a:off x="731520" y="3264408"/>
            <a:ext cx="2240280" cy="1152144"/>
          </a:xfrm>
          <a:prstGeom prst="rect">
            <a:avLst/>
          </a:prstGeom>
          <a:noFill/>
          <a:ln/>
        </p:spPr>
        <p:txBody>
          <a:bodyPr wrap="square" lIns="0" tIns="0" rIns="0" bIns="0" rtlCol="0" anchor="t"/>
          <a:lstStyle/>
          <a:p>
            <a:pPr indent="0" marL="0">
              <a:spcAft>
                <a:spcPts val="400"/>
              </a:spcAft>
              <a:buNone/>
            </a:pPr>
            <a:r>
              <a:rPr lang="en-US" sz="1400" b="1" dirty="0">
                <a:solidFill>
                  <a:srgbClr val="0F766E"/>
                </a:solidFill>
                <a:latin typeface="Calibri" pitchFamily="34" charset="0"/>
                <a:ea typeface="Calibri" pitchFamily="34" charset="-122"/>
                <a:cs typeface="Calibri" pitchFamily="34" charset="-120"/>
              </a:rPr>
              <a:t>Customer isolation</a:t>
            </a:r>
            <a:endParaRPr lang="en-US" sz="1400" dirty="0"/>
          </a:p>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One deployment cell per customer keeps their source code separate and protected.</a:t>
            </a:r>
            <a:endParaRPr lang="en-US" sz="1400" dirty="0"/>
          </a:p>
        </p:txBody>
      </p:sp>
      <p:sp>
        <p:nvSpPr>
          <p:cNvPr id="12" name="Shape 10"/>
          <p:cNvSpPr/>
          <p:nvPr/>
        </p:nvSpPr>
        <p:spPr>
          <a:xfrm>
            <a:off x="3360420" y="3154680"/>
            <a:ext cx="2606040" cy="1371600"/>
          </a:xfrm>
          <a:prstGeom prst="roundRect">
            <a:avLst>
              <a:gd name="adj" fmla="val 6667"/>
            </a:avLst>
          </a:prstGeom>
          <a:solidFill>
            <a:srgbClr val="E6F2F1"/>
          </a:solidFill>
          <a:ln w="12700">
            <a:solidFill>
              <a:srgbClr val="E6F2F1"/>
            </a:solidFill>
            <a:prstDash val="solid"/>
          </a:ln>
        </p:spPr>
      </p:sp>
      <p:sp>
        <p:nvSpPr>
          <p:cNvPr id="13" name="Text 11"/>
          <p:cNvSpPr txBox="1"/>
          <p:nvPr/>
        </p:nvSpPr>
        <p:spPr>
          <a:xfrm>
            <a:off x="3543300" y="3264408"/>
            <a:ext cx="2240280" cy="1152144"/>
          </a:xfrm>
          <a:prstGeom prst="rect">
            <a:avLst/>
          </a:prstGeom>
          <a:noFill/>
          <a:ln/>
        </p:spPr>
        <p:txBody>
          <a:bodyPr wrap="square" lIns="0" tIns="0" rIns="0" bIns="0" rtlCol="0" anchor="t"/>
          <a:lstStyle/>
          <a:p>
            <a:pPr indent="0" marL="0">
              <a:spcAft>
                <a:spcPts val="400"/>
              </a:spcAft>
              <a:buNone/>
            </a:pPr>
            <a:r>
              <a:rPr lang="en-US" sz="1400" b="1" dirty="0">
                <a:solidFill>
                  <a:srgbClr val="0F766E"/>
                </a:solidFill>
                <a:latin typeface="Calibri" pitchFamily="34" charset="0"/>
                <a:ea typeface="Calibri" pitchFamily="34" charset="-122"/>
                <a:cs typeface="Calibri" pitchFamily="34" charset="-120"/>
              </a:rPr>
              <a:t>Simple to run</a:t>
            </a:r>
            <a:endParaRPr lang="en-US" sz="1400" dirty="0"/>
          </a:p>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Modular monolith with SQLite and PostgreSQL. No heavy infrastructure at current scale.</a:t>
            </a:r>
            <a:endParaRPr lang="en-US" sz="1400" dirty="0"/>
          </a:p>
        </p:txBody>
      </p:sp>
      <p:sp>
        <p:nvSpPr>
          <p:cNvPr id="14" name="Shape 12"/>
          <p:cNvSpPr/>
          <p:nvPr/>
        </p:nvSpPr>
        <p:spPr>
          <a:xfrm>
            <a:off x="6172200" y="3154680"/>
            <a:ext cx="2606040" cy="1371600"/>
          </a:xfrm>
          <a:prstGeom prst="roundRect">
            <a:avLst>
              <a:gd name="adj" fmla="val 6667"/>
            </a:avLst>
          </a:prstGeom>
          <a:solidFill>
            <a:srgbClr val="E6F2F1"/>
          </a:solidFill>
          <a:ln w="12700">
            <a:solidFill>
              <a:srgbClr val="E6F2F1"/>
            </a:solidFill>
            <a:prstDash val="solid"/>
          </a:ln>
        </p:spPr>
      </p:sp>
      <p:sp>
        <p:nvSpPr>
          <p:cNvPr id="15" name="Text 13"/>
          <p:cNvSpPr txBox="1"/>
          <p:nvPr/>
        </p:nvSpPr>
        <p:spPr>
          <a:xfrm>
            <a:off x="6355080" y="3264408"/>
            <a:ext cx="2240280" cy="1152144"/>
          </a:xfrm>
          <a:prstGeom prst="rect">
            <a:avLst/>
          </a:prstGeom>
          <a:noFill/>
          <a:ln/>
        </p:spPr>
        <p:txBody>
          <a:bodyPr wrap="square" lIns="0" tIns="0" rIns="0" bIns="0" rtlCol="0" anchor="t"/>
          <a:lstStyle/>
          <a:p>
            <a:pPr indent="0" marL="0">
              <a:spcAft>
                <a:spcPts val="400"/>
              </a:spcAft>
              <a:buNone/>
            </a:pPr>
            <a:r>
              <a:rPr lang="en-US" sz="1400" b="1" dirty="0">
                <a:solidFill>
                  <a:srgbClr val="0F766E"/>
                </a:solidFill>
                <a:latin typeface="Calibri" pitchFamily="34" charset="0"/>
                <a:ea typeface="Calibri" pitchFamily="34" charset="-122"/>
                <a:cs typeface="Calibri" pitchFamily="34" charset="-120"/>
              </a:rPr>
              <a:t>Measured, low-risk delivery</a:t>
            </a:r>
            <a:endParaRPr lang="en-US" sz="1400" dirty="0"/>
          </a:p>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Builds on the validated POC. Each phase needs human sign-off, and quality is tracked against SME-validated cases.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200" b="1" spc="300" kern="0" dirty="0">
                <a:solidFill>
                  <a:srgbClr val="0F766E"/>
                </a:solidFill>
                <a:latin typeface="Calibri" pitchFamily="34" charset="0"/>
                <a:ea typeface="Calibri" pitchFamily="34" charset="-122"/>
                <a:cs typeface="Calibri" pitchFamily="34" charset="-120"/>
              </a:rPr>
              <a:t>ROADMAP</a:t>
            </a:r>
            <a:endParaRPr lang="en-US" sz="1200" dirty="0"/>
          </a:p>
        </p:txBody>
      </p:sp>
      <p:sp>
        <p:nvSpPr>
          <p:cNvPr id="3" name="Text 1"/>
          <p:cNvSpPr txBox="1"/>
          <p:nvPr/>
        </p:nvSpPr>
        <p:spPr>
          <a:xfrm>
            <a:off x="548640" y="685800"/>
            <a:ext cx="8046720" cy="91440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From code intelligence to a full support investigation workspace</a:t>
            </a:r>
            <a:endParaRPr lang="en-US" sz="2800" dirty="0"/>
          </a:p>
        </p:txBody>
      </p:sp>
      <p:sp>
        <p:nvSpPr>
          <p:cNvPr id="4" name="Shape 2"/>
          <p:cNvSpPr/>
          <p:nvPr/>
        </p:nvSpPr>
        <p:spPr>
          <a:xfrm>
            <a:off x="548640" y="1783080"/>
            <a:ext cx="1920240" cy="2697480"/>
          </a:xfrm>
          <a:prstGeom prst="roundRect">
            <a:avLst>
              <a:gd name="adj" fmla="val 4762"/>
            </a:avLst>
          </a:prstGeom>
          <a:solidFill>
            <a:srgbClr val="E6F2F1"/>
          </a:solidFill>
          <a:ln w="12700">
            <a:solidFill>
              <a:srgbClr val="E6F2F1"/>
            </a:solidFill>
            <a:prstDash val="solid"/>
          </a:ln>
        </p:spPr>
      </p:sp>
      <p:sp>
        <p:nvSpPr>
          <p:cNvPr id="5" name="Text 3"/>
          <p:cNvSpPr txBox="1"/>
          <p:nvPr/>
        </p:nvSpPr>
        <p:spPr>
          <a:xfrm>
            <a:off x="731520" y="1920240"/>
            <a:ext cx="1554480" cy="411480"/>
          </a:xfrm>
          <a:prstGeom prst="rect">
            <a:avLst/>
          </a:prstGeom>
          <a:noFill/>
          <a:ln/>
        </p:spPr>
        <p:txBody>
          <a:bodyPr wrap="square" lIns="0" tIns="0" rIns="0" bIns="0" rtlCol="0" anchor="ctr"/>
          <a:lstStyle/>
          <a:p>
            <a:pPr indent="0" marL="0">
              <a:buNone/>
            </a:pPr>
            <a:r>
              <a:rPr lang="en-US" sz="2000" b="1" dirty="0">
                <a:solidFill>
                  <a:srgbClr val="0F766E"/>
                </a:solidFill>
                <a:latin typeface="Calibri" pitchFamily="34" charset="0"/>
                <a:ea typeface="Calibri" pitchFamily="34" charset="-122"/>
                <a:cs typeface="Calibri" pitchFamily="34" charset="-120"/>
              </a:rPr>
              <a:t>Now</a:t>
            </a:r>
            <a:endParaRPr lang="en-US" sz="2000" dirty="0"/>
          </a:p>
        </p:txBody>
      </p:sp>
      <p:sp>
        <p:nvSpPr>
          <p:cNvPr id="6" name="Text 4"/>
          <p:cNvSpPr txBox="1"/>
          <p:nvPr/>
        </p:nvSpPr>
        <p:spPr>
          <a:xfrm>
            <a:off x="731520" y="2423160"/>
            <a:ext cx="160020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Core integrity and stable artifact identity</a:t>
            </a:r>
            <a:endParaRPr lang="en-US" sz="1200" dirty="0"/>
          </a:p>
        </p:txBody>
      </p:sp>
      <p:sp>
        <p:nvSpPr>
          <p:cNvPr id="7" name="Shape 5"/>
          <p:cNvSpPr/>
          <p:nvPr/>
        </p:nvSpPr>
        <p:spPr>
          <a:xfrm>
            <a:off x="2651760" y="1783080"/>
            <a:ext cx="1920240" cy="2697480"/>
          </a:xfrm>
          <a:prstGeom prst="roundRect">
            <a:avLst>
              <a:gd name="adj" fmla="val 4762"/>
            </a:avLst>
          </a:prstGeom>
          <a:solidFill>
            <a:srgbClr val="F3F4F6"/>
          </a:solidFill>
          <a:ln w="12700">
            <a:solidFill>
              <a:srgbClr val="F3F4F6"/>
            </a:solidFill>
            <a:prstDash val="solid"/>
          </a:ln>
        </p:spPr>
      </p:sp>
      <p:sp>
        <p:nvSpPr>
          <p:cNvPr id="8" name="Text 6"/>
          <p:cNvSpPr txBox="1"/>
          <p:nvPr/>
        </p:nvSpPr>
        <p:spPr>
          <a:xfrm>
            <a:off x="2834640" y="1920240"/>
            <a:ext cx="1554480" cy="411480"/>
          </a:xfrm>
          <a:prstGeom prst="rect">
            <a:avLst/>
          </a:prstGeom>
          <a:noFill/>
          <a:ln/>
        </p:spPr>
        <p:txBody>
          <a:bodyPr wrap="square" lIns="0" tIns="0" rIns="0" bIns="0" rtlCol="0" anchor="ctr"/>
          <a:lstStyle/>
          <a:p>
            <a:pPr indent="0" marL="0">
              <a:buNone/>
            </a:pPr>
            <a:r>
              <a:rPr lang="en-US" sz="2000" b="1" dirty="0">
                <a:solidFill>
                  <a:srgbClr val="1F2937"/>
                </a:solidFill>
                <a:latin typeface="Calibri" pitchFamily="34" charset="0"/>
                <a:ea typeface="Calibri" pitchFamily="34" charset="-122"/>
                <a:cs typeface="Calibri" pitchFamily="34" charset="-120"/>
              </a:rPr>
              <a:t>Next</a:t>
            </a:r>
            <a:endParaRPr lang="en-US" sz="2000" dirty="0"/>
          </a:p>
        </p:txBody>
      </p:sp>
      <p:sp>
        <p:nvSpPr>
          <p:cNvPr id="9" name="Text 7"/>
          <p:cNvSpPr txBox="1"/>
          <p:nvPr/>
        </p:nvSpPr>
        <p:spPr>
          <a:xfrm>
            <a:off x="2834640" y="2423160"/>
            <a:ext cx="160020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Investigation model</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First real ticket → RCA → SME check</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Jira ticket intelligence, attachments, OCR</a:t>
            </a:r>
            <a:endParaRPr lang="en-US" sz="1200" dirty="0"/>
          </a:p>
        </p:txBody>
      </p:sp>
      <p:sp>
        <p:nvSpPr>
          <p:cNvPr id="10" name="Shape 8"/>
          <p:cNvSpPr/>
          <p:nvPr/>
        </p:nvSpPr>
        <p:spPr>
          <a:xfrm>
            <a:off x="4754880" y="1783080"/>
            <a:ext cx="1920240" cy="2697480"/>
          </a:xfrm>
          <a:prstGeom prst="roundRect">
            <a:avLst>
              <a:gd name="adj" fmla="val 4762"/>
            </a:avLst>
          </a:prstGeom>
          <a:solidFill>
            <a:srgbClr val="F3F4F6"/>
          </a:solidFill>
          <a:ln w="12700">
            <a:solidFill>
              <a:srgbClr val="F3F4F6"/>
            </a:solidFill>
            <a:prstDash val="solid"/>
          </a:ln>
        </p:spPr>
      </p:sp>
      <p:sp>
        <p:nvSpPr>
          <p:cNvPr id="11" name="Text 9"/>
          <p:cNvSpPr txBox="1"/>
          <p:nvPr/>
        </p:nvSpPr>
        <p:spPr>
          <a:xfrm>
            <a:off x="4937760" y="1920240"/>
            <a:ext cx="1554480" cy="411480"/>
          </a:xfrm>
          <a:prstGeom prst="rect">
            <a:avLst/>
          </a:prstGeom>
          <a:noFill/>
          <a:ln/>
        </p:spPr>
        <p:txBody>
          <a:bodyPr wrap="square" lIns="0" tIns="0" rIns="0" bIns="0" rtlCol="0" anchor="ctr"/>
          <a:lstStyle/>
          <a:p>
            <a:pPr indent="0" marL="0">
              <a:buNone/>
            </a:pPr>
            <a:r>
              <a:rPr lang="en-US" sz="2000" b="1" dirty="0">
                <a:solidFill>
                  <a:srgbClr val="1F2937"/>
                </a:solidFill>
                <a:latin typeface="Calibri" pitchFamily="34" charset="0"/>
                <a:ea typeface="Calibri" pitchFamily="34" charset="-122"/>
                <a:cs typeface="Calibri" pitchFamily="34" charset="-120"/>
              </a:rPr>
              <a:t>Then</a:t>
            </a:r>
            <a:endParaRPr lang="en-US" sz="2000" dirty="0"/>
          </a:p>
        </p:txBody>
      </p:sp>
      <p:sp>
        <p:nvSpPr>
          <p:cNvPr id="12" name="Text 10"/>
          <p:cNvSpPr txBox="1"/>
          <p:nvPr/>
        </p:nvSpPr>
        <p:spPr>
          <a:xfrm>
            <a:off x="4937760" y="2423160"/>
            <a:ext cx="160020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Evidence ledger and citation checks</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Better retrieval, agent experiment</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Controlled runtime evidence</a:t>
            </a:r>
            <a:endParaRPr lang="en-US" sz="1200" dirty="0"/>
          </a:p>
        </p:txBody>
      </p:sp>
      <p:sp>
        <p:nvSpPr>
          <p:cNvPr id="13" name="Shape 11"/>
          <p:cNvSpPr/>
          <p:nvPr/>
        </p:nvSpPr>
        <p:spPr>
          <a:xfrm>
            <a:off x="6858000" y="1783080"/>
            <a:ext cx="1920240" cy="2697480"/>
          </a:xfrm>
          <a:prstGeom prst="roundRect">
            <a:avLst>
              <a:gd name="adj" fmla="val 4762"/>
            </a:avLst>
          </a:prstGeom>
          <a:solidFill>
            <a:srgbClr val="F3F4F6"/>
          </a:solidFill>
          <a:ln w="12700">
            <a:solidFill>
              <a:srgbClr val="F3F4F6"/>
            </a:solidFill>
            <a:prstDash val="solid"/>
          </a:ln>
        </p:spPr>
      </p:sp>
      <p:sp>
        <p:nvSpPr>
          <p:cNvPr id="14" name="Text 12"/>
          <p:cNvSpPr txBox="1"/>
          <p:nvPr/>
        </p:nvSpPr>
        <p:spPr>
          <a:xfrm>
            <a:off x="7040880" y="1920240"/>
            <a:ext cx="1554480" cy="411480"/>
          </a:xfrm>
          <a:prstGeom prst="rect">
            <a:avLst/>
          </a:prstGeom>
          <a:noFill/>
          <a:ln/>
        </p:spPr>
        <p:txBody>
          <a:bodyPr wrap="square" lIns="0" tIns="0" rIns="0" bIns="0" rtlCol="0" anchor="ctr"/>
          <a:lstStyle/>
          <a:p>
            <a:pPr indent="0" marL="0">
              <a:buNone/>
            </a:pPr>
            <a:r>
              <a:rPr lang="en-US" sz="2000" b="1" dirty="0">
                <a:solidFill>
                  <a:srgbClr val="1F2937"/>
                </a:solidFill>
                <a:latin typeface="Calibri" pitchFamily="34" charset="0"/>
                <a:ea typeface="Calibri" pitchFamily="34" charset="-122"/>
                <a:cs typeface="Calibri" pitchFamily="34" charset="-120"/>
              </a:rPr>
              <a:t>Later</a:t>
            </a:r>
            <a:endParaRPr lang="en-US" sz="2000" dirty="0"/>
          </a:p>
        </p:txBody>
      </p:sp>
      <p:sp>
        <p:nvSpPr>
          <p:cNvPr id="15" name="Text 13"/>
          <p:cNvSpPr txBox="1"/>
          <p:nvPr/>
        </p:nvSpPr>
        <p:spPr>
          <a:xfrm>
            <a:off x="7040880" y="2423160"/>
            <a:ext cx="160020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Jira workspace and write-back</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Full UI and explorers</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PREMIA domain knowledge, production hardening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2937"/>
        </a:solidFill>
      </p:bgPr>
    </p:bg>
    <p:spTree>
      <p:nvGrpSpPr>
        <p:cNvPr id="1" name=""/>
        <p:cNvGrpSpPr/>
        <p:nvPr/>
      </p:nvGrpSpPr>
      <p:grpSpPr>
        <a:xfrm>
          <a:off x="0" y="0"/>
          <a:ext cx="0" cy="0"/>
          <a:chOff x="0" y="0"/>
          <a:chExt cx="0" cy="0"/>
        </a:xfrm>
      </p:grpSpPr>
      <p:sp>
        <p:nvSpPr>
          <p:cNvPr id="2" name="Text 0"/>
          <p:cNvSpPr txBox="1"/>
          <p:nvPr/>
        </p:nvSpPr>
        <p:spPr>
          <a:xfrm>
            <a:off x="548640" y="548640"/>
            <a:ext cx="8046720" cy="274320"/>
          </a:xfrm>
          <a:prstGeom prst="rect">
            <a:avLst/>
          </a:prstGeom>
          <a:noFill/>
          <a:ln/>
        </p:spPr>
        <p:txBody>
          <a:bodyPr wrap="square" lIns="0" tIns="0" rIns="0" bIns="0" rtlCol="0" anchor="ctr"/>
          <a:lstStyle/>
          <a:p>
            <a:pPr indent="0" marL="0">
              <a:buNone/>
            </a:pPr>
            <a:r>
              <a:rPr lang="en-US" sz="1200" b="1" spc="300" kern="0" dirty="0">
                <a:solidFill>
                  <a:srgbClr val="5EEAD4"/>
                </a:solidFill>
                <a:latin typeface="Calibri" pitchFamily="34" charset="0"/>
                <a:ea typeface="Calibri" pitchFamily="34" charset="-122"/>
                <a:cs typeface="Calibri" pitchFamily="34" charset="-120"/>
              </a:rPr>
              <a:t>NIC AI — PREMIA SUPPORT INTELLIGENCE</a:t>
            </a:r>
            <a:endParaRPr lang="en-US" sz="1200" dirty="0"/>
          </a:p>
        </p:txBody>
      </p:sp>
      <p:sp>
        <p:nvSpPr>
          <p:cNvPr id="3" name="Text 1"/>
          <p:cNvSpPr txBox="1"/>
          <p:nvPr/>
        </p:nvSpPr>
        <p:spPr>
          <a:xfrm>
            <a:off x="548640" y="1188720"/>
            <a:ext cx="8046720" cy="14630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Turn PREMIA support from manual investigation into an evidence-driven, AI-assisted workflow.</a:t>
            </a:r>
            <a:endParaRPr lang="en-US" sz="3000" dirty="0"/>
          </a:p>
        </p:txBody>
      </p:sp>
      <p:sp>
        <p:nvSpPr>
          <p:cNvPr id="4" name="Text 2"/>
          <p:cNvSpPr txBox="1"/>
          <p:nvPr/>
        </p:nvSpPr>
        <p:spPr>
          <a:xfrm>
            <a:off x="548640" y="3383280"/>
            <a:ext cx="8046720" cy="457200"/>
          </a:xfrm>
          <a:prstGeom prst="rect">
            <a:avLst/>
          </a:prstGeom>
          <a:noFill/>
          <a:ln/>
        </p:spPr>
        <p:txBody>
          <a:bodyPr wrap="square" lIns="0" tIns="0" rIns="0" bIns="0" rtlCol="0" anchor="ctr"/>
          <a:lstStyle/>
          <a:p>
            <a:pPr indent="0" marL="0">
              <a:buNone/>
            </a:pPr>
            <a:r>
              <a:rPr lang="en-US" sz="1500" dirty="0">
                <a:solidFill>
                  <a:srgbClr val="D1D5DB"/>
                </a:solidFill>
                <a:latin typeface="Calibri" pitchFamily="34" charset="0"/>
                <a:ea typeface="Calibri" pitchFamily="34" charset="-122"/>
                <a:cs typeface="Calibri" pitchFamily="34" charset="-120"/>
              </a:rPr>
              <a:t>Jira incident  →  PREMIA area  →  Logic &amp; dependencies  →  Evidence-backed RCA  →  Validation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2026-09-30T15:45:55Z</dcterms:created>
  <dcterms:modified xsi:type="dcterms:W3CDTF">2026-09-30T15:45:55Z</dcterms:modified>
</cp:coreProperties>
</file>